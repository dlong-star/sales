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Helvetica Neue"/>
              </a:rPr>
              <a:t>Kids Creativity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8B8B"/>
                </a:solidFill>
                <a:latin typeface="Helvetica Neue"/>
              </a:rPr>
              <a:t>Confidence Club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429000"/>
            <a:ext cx="3200400" cy="502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566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C8C8"/>
                </a:solidFill>
                <a:latin typeface="Helvetica Neue"/>
              </a:rPr>
              <a:t>The Monthly Encouragement Subscription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  <a:latin typeface="Helvetica Neue"/>
              </a:rPr>
              <a:t>D. Long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Kids Stop Creating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16459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004A4A"/>
                </a:solidFill>
                <a:latin typeface="Helvetica Neu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Helvetica Neue"/>
              </a:rPr>
              <a:t>• Ages 3–7: kids create constantly — no fear, no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568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8B8B"/>
                </a:solidFill>
                <a:latin typeface="Helvetica Neue"/>
              </a:rPr>
              <a:t>• Ages 8–10: they stop. They compare. They lose encouragement.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4261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Helvetica Neue"/>
              </a:rPr>
              <a:t>• No product exists to keep them creating.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88"/>
                </a:solidFill>
                <a:latin typeface="Helvetica Neue"/>
              </a:rPr>
              <a:t>The drop-off happens before middle school.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Parents Spend Billions on Confidence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8B8B"/>
                </a:solidFill>
                <a:latin typeface="Helvetica Neue"/>
              </a:rPr>
              <a:t>$1,500–3,000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per family / year on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8B8B"/>
                </a:solidFill>
                <a:latin typeface="Helvetica Neue"/>
              </a:rPr>
              <a:t>20M+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households in target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8B8B"/>
                </a:solidFill>
                <a:latin typeface="Helvetica Neue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products for creative confidence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124712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8C8"/>
                </a:solidFill>
                <a:latin typeface="Helvetica Neue"/>
              </a:rPr>
              <a:t>• Parents already budget heavily for enrichment activities.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8C8C8"/>
                </a:solidFill>
                <a:latin typeface="Helvetica Neue"/>
              </a:rPr>
              <a:t>• They need something confidence-focused, not just skill-based.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08576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B8B"/>
                </a:solidFill>
                <a:latin typeface="Helvetica Neue"/>
              </a:rPr>
              <a:t>• Creative confidence = gap nobody has filled.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Here's What We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920240" cy="1554480"/>
          </a:xfrm>
          <a:prstGeom prst="rect">
            <a:avLst/>
          </a:prstGeom>
          <a:solidFill>
            <a:srgbClr val="0D3D3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Kid
Creates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103120"/>
            <a:ext cx="1920240" cy="1554480"/>
          </a:xfrm>
          <a:prstGeom prst="rect">
            <a:avLst/>
          </a:prstGeom>
          <a:solidFill>
            <a:srgbClr val="0D3D3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Kid
Submits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103120"/>
            <a:ext cx="1920240" cy="1554480"/>
          </a:xfrm>
          <a:prstGeom prst="rect">
            <a:avLst/>
          </a:prstGeom>
          <a:solidFill>
            <a:srgbClr val="0D3D3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Kid Gets
Celebrated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03120"/>
            <a:ext cx="1920240" cy="1554480"/>
          </a:xfrm>
          <a:prstGeom prst="rect">
            <a:avLst/>
          </a:prstGeom>
          <a:solidFill>
            <a:srgbClr val="0D3D3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Helvetica Neue"/>
              </a:rPr>
              <a:t>Kid Creates
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8B8B"/>
                </a:solidFill>
                <a:latin typeface="Helvetica Neue"/>
              </a:rPr>
              <a:t>↺  Every month. Recurring.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888888"/>
                </a:solidFill>
                <a:latin typeface="Helvetica Neue"/>
              </a:rPr>
              <a:t>No product development. The child creates the 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What Kid Gets Each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5029200" cy="1417320"/>
          </a:xfrm>
          <a:prstGeom prst="rect">
            <a:avLst/>
          </a:prstGeom>
          <a:solidFill>
            <a:srgbClr val="262626"/>
          </a:solidFill>
          <a:ln w="9525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8B8B"/>
                </a:solidFill>
                <a:latin typeface="Helvetica Neue"/>
              </a:rPr>
              <a:t>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Personalized encouragement letter
(addressed to the child by name)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029200" cy="1417320"/>
          </a:xfrm>
          <a:prstGeom prst="rect">
            <a:avLst/>
          </a:prstGeom>
          <a:solidFill>
            <a:srgbClr val="262626"/>
          </a:solidFill>
          <a:ln w="9525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8B8B"/>
                </a:solidFill>
                <a:latin typeface="Helvetica Neue"/>
              </a:rPr>
              <a:t>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Printed reproduction or keepsake
of their submitted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029200" cy="1417320"/>
          </a:xfrm>
          <a:prstGeom prst="rect">
            <a:avLst/>
          </a:prstGeom>
          <a:solidFill>
            <a:srgbClr val="262626"/>
          </a:solidFill>
          <a:ln w="9525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8B8B"/>
                </a:solidFill>
                <a:latin typeface="Helvetica Neue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6002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Creative challenge card
for next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54680"/>
            <a:ext cx="5029200" cy="1417320"/>
          </a:xfrm>
          <a:prstGeom prst="rect">
            <a:avLst/>
          </a:prstGeom>
          <a:solidFill>
            <a:srgbClr val="262626"/>
          </a:solidFill>
          <a:ln w="9525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38328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8B8B"/>
                </a:solidFill>
                <a:latin typeface="Helvetica Neue"/>
              </a:rPr>
              <a:t>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46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Milestone rewards over time
(streaks, certificates, surprises)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88"/>
                </a:solidFill>
                <a:latin typeface="Helvetica Neue"/>
              </a:rPr>
              <a:t>Fully personalized. Mailed or digital delivery depending on tier.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It's Not Art. It's Confidence.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  <a:latin typeface="Helvetica Neue"/>
              </a:rPr>
              <a:t>We're selling: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B8B"/>
                </a:solidFill>
                <a:latin typeface="Helvetica Neue"/>
              </a:rPr>
              <a:t>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1576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B8B"/>
                </a:solidFill>
                <a:latin typeface="Helvetica Neue"/>
              </a:rPr>
              <a:t>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7413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B8B"/>
                </a:solidFill>
                <a:latin typeface="Helvetica Neue"/>
              </a:rPr>
              <a:t>Encouragement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3250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B8B"/>
                </a:solidFill>
                <a:latin typeface="Helvetica Neue"/>
              </a:rPr>
              <a:t>A lasting memory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508760"/>
            <a:ext cx="5212080" cy="292608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1">
                <a:solidFill>
                  <a:srgbClr val="FFFFFF"/>
                </a:solidFill>
                <a:latin typeface="Helvetica Neue"/>
              </a:rPr>
              <a:t>“A child getting mail that says
‘We loved your imagination’
changes something.”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29200"/>
            <a:ext cx="1124712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88888"/>
                </a:solidFill>
                <a:latin typeface="Helvetica Neue"/>
              </a:rPr>
              <a:t>The product is validation. The box is delivery.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Three Entry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2651760" cy="3840480"/>
          </a:xfrm>
          <a:prstGeom prst="rect">
            <a:avLst/>
          </a:prstGeom>
          <a:solidFill>
            <a:srgbClr val="262626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73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C8C8"/>
                </a:solidFill>
                <a:latin typeface="Helvetica Neue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Neue"/>
              </a:rPr>
              <a:t>$9.99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Helvetica Neue"/>
              </a:rPr>
              <a:t>/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22860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91840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Digital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22192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Gallery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352544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Monthly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1508760"/>
            <a:ext cx="2651760" cy="3840480"/>
          </a:xfrm>
          <a:prstGeom prst="rect">
            <a:avLst/>
          </a:prstGeom>
          <a:solidFill>
            <a:srgbClr val="0D3D3D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673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Helvetica Neue"/>
              </a:rPr>
              <a:t>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103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Neue"/>
              </a:rPr>
              <a:t>$17.99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Helvetica Neue"/>
              </a:rPr>
              <a:t>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3154680"/>
            <a:ext cx="22860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3291840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↑ Everything above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822192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Printed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352544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Keepsake 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1161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8B"/>
                </a:solidFill>
                <a:latin typeface="Helvetica Neue"/>
              </a:rPr>
              <a:t>MOST POPULAR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1508760"/>
            <a:ext cx="2651760" cy="3840480"/>
          </a:xfrm>
          <a:prstGeom prst="rect">
            <a:avLst/>
          </a:prstGeom>
          <a:solidFill>
            <a:srgbClr val="262626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673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C8C8"/>
                </a:solidFill>
                <a:latin typeface="Helvetica Neue"/>
              </a:rPr>
              <a:t>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103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Neue"/>
              </a:rPr>
              <a:t>$29.99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Helvetica Neue"/>
              </a:rPr>
              <a:t>/ month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5664" y="3154680"/>
            <a:ext cx="22860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291840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↑ Everything above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22192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Framed 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352544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Rewards program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1508760"/>
            <a:ext cx="2651760" cy="3840480"/>
          </a:xfrm>
          <a:prstGeom prst="rect">
            <a:avLst/>
          </a:prstGeom>
          <a:solidFill>
            <a:srgbClr val="262626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1673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C8C8"/>
                </a:solidFill>
                <a:latin typeface="Helvetica Neue"/>
              </a:rPr>
              <a:t>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21031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Helvetica Neue"/>
              </a:rPr>
              <a:t>$39.99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Helvetica Neue"/>
              </a:rPr>
              <a:t>/ month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3456" y="3154680"/>
            <a:ext cx="228600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3291840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Up to 3 kids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3822192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All Standard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4352544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8C8"/>
                </a:solidFill>
                <a:latin typeface="Helvetica Neue"/>
              </a:rPr>
              <a:t>• Shared gallery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Multiple Customer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3474720" cy="3749039"/>
          </a:xfrm>
          <a:prstGeom prst="rect">
            <a:avLst/>
          </a:prstGeom>
          <a:solidFill>
            <a:srgbClr val="262626"/>
          </a:solidFill>
          <a:ln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Helvetica Neue"/>
              </a:rPr>
              <a:t>👨‍👩‍👧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</a:rPr>
              <a:t>Parents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B8B"/>
                </a:solidFill>
                <a:latin typeface="Helvetica Neue"/>
              </a:rPr>
              <a:t>20M+
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  <a:latin typeface="Helvetica Neue"/>
              </a:rPr>
              <a:t>Confidence-building for their child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508760"/>
            <a:ext cx="3474720" cy="3749039"/>
          </a:xfrm>
          <a:prstGeom prst="rect">
            <a:avLst/>
          </a:prstGeom>
          <a:solidFill>
            <a:srgbClr val="262626"/>
          </a:solidFill>
          <a:ln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Helvetica Neue"/>
              </a:rPr>
              <a:t>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</a:rPr>
              <a:t>Grandparents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B8B"/>
                </a:solidFill>
                <a:latin typeface="Helvetica Neue"/>
              </a:rPr>
              <a:t>35M+
households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  <a:latin typeface="Helvetica Neue"/>
              </a:rPr>
              <a:t>Meaningful gifts that celebrate grandkids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508760"/>
            <a:ext cx="3474720" cy="3749039"/>
          </a:xfrm>
          <a:prstGeom prst="rect">
            <a:avLst/>
          </a:prstGeom>
          <a:solidFill>
            <a:srgbClr val="262626"/>
          </a:solidFill>
          <a:ln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691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Helvetica Neue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elvetica Neue"/>
              </a:rPr>
              <a:t>Homeschool
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0175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B8B"/>
                </a:solidFill>
                <a:latin typeface="Helvetica Neue"/>
              </a:rPr>
              <a:t>5M+
households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3886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C8C8"/>
                </a:solidFill>
                <a:latin typeface="Helvetica Neue"/>
              </a:rPr>
              <a:t>Screen-free creative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Helvetica Neue"/>
              </a:rPr>
              <a:t>Not betting on one customer type.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Who Else Does This?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Helvetica Neue"/>
              </a:rPr>
              <a:t>Competitor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813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Helvetica Neue"/>
              </a:rPr>
              <a:t>What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8132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Helvetica Neue"/>
              </a:rPr>
              <a:t>Why It's Different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2808"/>
            <a:ext cx="11247120" cy="2743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56816"/>
            <a:ext cx="1124712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4825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Artkive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482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Parent storage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482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8B"/>
                </a:solidFill>
                <a:latin typeface="Helvetica Neue"/>
              </a:rPr>
              <a:t>Not 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Art Supply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626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Send supplies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626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8B"/>
                </a:solidFill>
                <a:latin typeface="Helvetica Neue"/>
              </a:rPr>
              <a:t>Not celebration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85616"/>
            <a:ext cx="1124712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7705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Art Contests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770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  <a:latin typeface="Helvetica Neue"/>
              </a:rPr>
              <a:t>Winners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77056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8B8B"/>
                </a:solidFill>
                <a:latin typeface="Helvetica Neue"/>
              </a:rPr>
              <a:t>Not recurring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1247120" cy="105156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Helvetica Neue"/>
              </a:rPr>
              <a:t>The gap: Nobody celebrates to the CHILD, every 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The Math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6858000" cy="7132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184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8C8C8"/>
                </a:solidFill>
                <a:latin typeface="Helvetica Neue"/>
              </a:rPr>
              <a:t>Average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61848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008B8B"/>
                </a:solidFill>
                <a:latin typeface="Helvetica Neue"/>
              </a:rPr>
              <a:t>$17.99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50008"/>
            <a:ext cx="6858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8C8C8"/>
                </a:solidFill>
                <a:latin typeface="Helvetica Neue"/>
              </a:rPr>
              <a:t>COGS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597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008B8B"/>
                </a:solidFill>
                <a:latin typeface="Helvetica Neue"/>
              </a:rPr>
              <a:t>$4–5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91256"/>
            <a:ext cx="6858000" cy="7132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8C8C8"/>
                </a:solidFill>
                <a:latin typeface="Helvetica Neue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300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008B8B"/>
                </a:solidFill>
                <a:latin typeface="Helvetica Neue"/>
              </a:rPr>
              <a:t>50%+  at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32504"/>
            <a:ext cx="6858000" cy="7132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4223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8C8C8"/>
                </a:solidFill>
                <a:latin typeface="Helvetica Neue"/>
              </a:rPr>
              <a:t>1,000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4223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008B8B"/>
                </a:solidFill>
                <a:latin typeface="Helvetica Neue"/>
              </a:rPr>
              <a:t>$9K MRR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73752"/>
            <a:ext cx="6858000" cy="7132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C8C8C8"/>
                </a:solidFill>
                <a:latin typeface="Helvetica Neue"/>
              </a:rPr>
              <a:t>Customer LTV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983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008B8B"/>
                </a:solidFill>
                <a:latin typeface="Helvetica Neue"/>
              </a:rPr>
              <a:t>$200–500+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087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888888"/>
                </a:solidFill>
                <a:latin typeface="Helvetica Neue"/>
              </a:rPr>
              <a:t>If churn stays
below 3%/month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8B8B"/>
                </a:solidFill>
                <a:latin typeface="Helvetica Neue"/>
              </a:rPr>
              <a:t>$500+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29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8C8C8"/>
                </a:solidFill>
                <a:latin typeface="Helvetica Neue"/>
              </a:rPr>
              <a:t>customer LTV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88888"/>
                </a:solidFill>
                <a:latin typeface="Helvetica Neue"/>
              </a:rPr>
              <a:t>Margin compounds fast once fulfillment ops are dialed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Why We 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8B"/>
                </a:solidFill>
                <a:latin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Zero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The kid creates it. We package and celebrate.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8B"/>
                </a:solidFill>
                <a:latin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Recurring 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Monthly subscriptions = predictable cash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82696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8B"/>
                </a:solidFill>
                <a:latin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826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Multiple customer anchors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484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Parents, grandparents, homeschoolers — not a niche.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9664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8B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9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Defensible brand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3542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Trust, recognition, and emotional loyalty compound.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56632"/>
            <a:ext cx="457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8B"/>
                </a:solidFill>
                <a:latin typeface="Helvetica Neue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56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Expandable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223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C8C8"/>
                </a:solidFill>
                <a:latin typeface="Helvetica Neue"/>
              </a:rPr>
              <a:t>Stories, inventions, science projects — same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What Could Kill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  <a:latin typeface="Helvetica Neue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  <a:latin typeface="Helvetica Neue"/>
              </a:rPr>
              <a:t>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01952"/>
            <a:ext cx="5029200" cy="27432"/>
          </a:xfrm>
          <a:prstGeom prst="rect">
            <a:avLst/>
          </a:prstGeom>
          <a:solidFill>
            <a:srgbClr val="5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901952"/>
            <a:ext cx="5120640" cy="274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93392"/>
            <a:ext cx="5029200" cy="1097280"/>
          </a:xfrm>
          <a:prstGeom prst="rect">
            <a:avLst/>
          </a:prstGeom>
          <a:solidFill>
            <a:srgbClr val="301818"/>
          </a:solidFill>
          <a:ln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665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888"/>
                </a:solidFill>
                <a:latin typeface="Helvetica Neue"/>
              </a:rPr>
              <a:t>Churn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Parents forget to submit artwork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2677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993392"/>
            <a:ext cx="5120640" cy="1097280"/>
          </a:xfrm>
          <a:prstGeom prst="rect">
            <a:avLst/>
          </a:prstGeom>
          <a:solidFill>
            <a:srgbClr val="0D3D3D"/>
          </a:solidFill>
          <a:ln>
            <a:solidFill>
              <a:srgbClr val="00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3055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Auto-reminders + monthly challenge prompts drive submission habit.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73552"/>
            <a:ext cx="5029200" cy="1097280"/>
          </a:xfrm>
          <a:prstGeom prst="rect">
            <a:avLst/>
          </a:prstGeom>
          <a:solidFill>
            <a:srgbClr val="301818"/>
          </a:solidFill>
          <a:ln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467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888"/>
                </a:solidFill>
                <a:latin typeface="Helvetica Neue"/>
              </a:rPr>
              <a:t>Personalization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Manual effort doesn't scale past ~500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5478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273552"/>
            <a:ext cx="5120640" cy="1097280"/>
          </a:xfrm>
          <a:prstGeom prst="rect">
            <a:avLst/>
          </a:prstGeom>
          <a:solidFill>
            <a:srgbClr val="0D3D3D"/>
          </a:solidFill>
          <a:ln>
            <a:solidFill>
              <a:srgbClr val="00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41071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AI-assisted encouragement letters + human review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53712"/>
            <a:ext cx="5029200" cy="1097280"/>
          </a:xfrm>
          <a:prstGeom prst="rect">
            <a:avLst/>
          </a:prstGeom>
          <a:solidFill>
            <a:srgbClr val="301818"/>
          </a:solidFill>
          <a:ln>
            <a:solidFill>
              <a:srgbClr val="66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2686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888"/>
                </a:solidFill>
                <a:latin typeface="Helvetica Neue"/>
              </a:rPr>
              <a:t>Fulfillment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109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Physical delivery adds cost and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8280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8B8B"/>
                </a:solidFill>
                <a:latin typeface="Helvetica Neue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553712"/>
            <a:ext cx="5120640" cy="1097280"/>
          </a:xfrm>
          <a:prstGeom prst="rect">
            <a:avLst/>
          </a:prstGeom>
          <a:solidFill>
            <a:srgbClr val="0D3D3D"/>
          </a:solidFill>
          <a:ln>
            <a:solidFill>
              <a:srgbClr val="00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69087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  <a:latin typeface="Helvetica Neue"/>
              </a:rPr>
              <a:t>Fulfillment ops partner locked in before scaling past 200 subs.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We Don't Build. We Test First.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08760"/>
            <a:ext cx="11247120" cy="73152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8B"/>
                </a:solidFill>
                <a:latin typeface="Helvetica Neue"/>
              </a:rP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Landing page + targeted 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04872"/>
            <a:ext cx="11247120" cy="73152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8B"/>
                </a:solidFill>
                <a:latin typeface="Helvetica Neue"/>
              </a:rPr>
              <a:t>Week 2–3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4203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Presale push — drive paid signups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00984"/>
            <a:ext cx="11247120" cy="73152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3814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8B"/>
                </a:solidFill>
                <a:latin typeface="Helvetica Neue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3814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20–50 paid signups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97096"/>
            <a:ext cx="11247120" cy="731520"/>
          </a:xfrm>
          <a:prstGeom prst="rect">
            <a:avLst/>
          </a:prstGeom>
          <a:solidFill>
            <a:srgbClr val="0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3425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8B8B"/>
                </a:solidFill>
                <a:latin typeface="Helvetica Neue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33425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$2,500–3,000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93208"/>
            <a:ext cx="11247120" cy="7315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elvetica Neue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3036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Helvetica Neue"/>
              </a:rPr>
              <a:t>20 paid? We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Helvetica Neue"/>
              </a:rPr>
              <a:t>Low risk. Fast signal. Clear decision point.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463003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C8C8"/>
                </a:solidFill>
                <a:latin typeface="Helvetica Neue"/>
              </a:rPr>
              <a:t>• $3,000 for the validation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1343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C8C8"/>
                </a:solidFill>
                <a:latin typeface="Helvetica Neue"/>
              </a:rPr>
              <a:t>• 2–3 weeks of your input and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2666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C8C8"/>
                </a:solidFill>
                <a:latin typeface="Helvetica Neue"/>
              </a:rPr>
              <a:t>• One decision point: hit 20 paid? We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325880"/>
            <a:ext cx="3383280" cy="3657600"/>
          </a:xfrm>
          <a:prstGeom prst="rect">
            <a:avLst/>
          </a:prstGeom>
          <a:solidFill>
            <a:srgbClr val="0D3D3D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008B8B"/>
                </a:solidFill>
                <a:latin typeface="Helvetica Neue"/>
              </a:rPr>
              <a:t>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74320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Dear Emma,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Helvetica Neue"/>
              </a:rPr>
              <a:t>We loved your imagination.
Your drawing made us smile.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Helvetica Neue"/>
              </a:rPr>
              <a:t>PACKAGE MOCKUP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758952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8B8B"/>
                </a:solidFill>
                <a:latin typeface="Helvetica Neue"/>
              </a:rPr>
              <a:t>Let's find out if this market exists.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88"/>
                </a:solidFill>
                <a:latin typeface="Helvetica Neue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