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040880" y="365760"/>
            <a:ext cx="5120640" cy="5120640"/>
          </a:xfrm>
          <a:prstGeom prst="ellipse">
            <a:avLst/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589520" y="914400"/>
            <a:ext cx="4023360" cy="4023360"/>
          </a:xfrm>
          <a:prstGeom prst="ellipse">
            <a:avLst/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0" y="2103120"/>
            <a:ext cx="1645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0" i="0">
                <a:solidFill>
                  <a:srgbClr val="FFFFFF"/>
                </a:solidFill>
              </a:rPr>
              <a:t>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4CC8C3"/>
                </a:solidFill>
              </a:rPr>
              <a:t>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5669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CC8C3"/>
                </a:solidFill>
              </a:rPr>
              <a:t>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548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CC8C3"/>
                </a:solidFill>
              </a:rPr>
              <a:t>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029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4CC8C3"/>
                </a:solidFill>
              </a:rPr>
              <a:t>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914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CC8C3"/>
                </a:solidFill>
              </a:rPr>
              <a:t>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85216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✉️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585216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585216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🖍️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585216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585216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280160"/>
            <a:ext cx="71323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</a:rPr>
              <a:t>Kids Creativity
Confidence Club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749039"/>
            <a:ext cx="4754880" cy="45720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9319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A0E1DF"/>
                </a:solidFill>
              </a:rPr>
              <a:t>A mail-powered creator community that helps kids keep creating 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A0E1DF"/>
                </a:solidFill>
              </a:rPr>
              <a:t>turning imagination into encouragement, recognition, and real keepsakes.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074920"/>
            <a:ext cx="2148840" cy="438912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093208"/>
            <a:ext cx="2011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🔒 Parent-Controlled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80360" y="5074920"/>
            <a:ext cx="2148840" cy="438912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71800" y="5093208"/>
            <a:ext cx="2011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📬 Real Mail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212079" y="5074920"/>
            <a:ext cx="2148840" cy="438912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19" y="5093208"/>
            <a:ext cx="2011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🌟 Community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640312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AAA8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8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CC8C3"/>
                </a:solidFill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</a:rPr>
              <a:t>Kids Stop
Creating.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2743200" cy="45720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4CC8C3"/>
                </a:solidFill>
              </a:rPr>
              <a:t>72%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301752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of kids aged 10–14 say they
feel "not creative enough"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4CC8C3"/>
                </a:solidFill>
              </a:rPr>
              <a:t>1 in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411480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kids stop making art by
middle school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12079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4CC8C3"/>
                </a:solidFill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5212079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safe platforms built
around a child's artwork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91440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0" i="0">
                <a:solidFill>
                  <a:srgbClr val="FFFFFF"/>
                </a:solidFill>
              </a:rPr>
              <a:t>🖍️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19456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4CC8C3"/>
                </a:solidFill>
              </a:rPr>
              <a:t>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743200"/>
            <a:ext cx="3474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1">
                <a:solidFill>
                  <a:srgbClr val="F7D060"/>
                </a:solidFill>
              </a:rPr>
              <a:t>"I'm not good
enough."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0" y="4846320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81728" y="4901184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No audience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523036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E1DF"/>
                </a:solidFill>
              </a:rPr>
              <a:t>Nobody sees their work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80" y="4846320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50608" y="4901184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No feedback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50608" y="523036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E1DF"/>
                </a:solidFill>
              </a:rPr>
              <a:t>Silence kills motivation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09760" y="4846320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19488" y="4901184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No continuity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19488" y="523036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E1DF"/>
                </a:solidFill>
              </a:rPr>
              <a:t>No reason to create again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640312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AAA8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CC8C3"/>
                </a:solidFill>
              </a:rPr>
              <a:t>THE 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Mail makes encouragement feel real.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4572000" cy="45720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4688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A0E1DF"/>
                </a:solidFill>
              </a:rPr>
              <a:t>The community keeps kids creating.
The mail makes the recognition tangible.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474720"/>
            <a:ext cx="5212080" cy="2560320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914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 i="0">
                <a:solidFill>
                  <a:srgbClr val="FFFFFF"/>
                </a:solidFill>
              </a:rPr>
              <a:t>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37033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Digital Community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4160520"/>
            <a:ext cx="3931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4F3"/>
                </a:solidFill>
              </a:rPr>
              <a:t>Safe space to share art,
get reactions, join challenges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3474720"/>
            <a:ext cx="5212080" cy="2560320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3611880"/>
            <a:ext cx="914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 i="0">
                <a:solidFill>
                  <a:srgbClr val="FFFFFF"/>
                </a:solidFill>
              </a:rPr>
              <a:t>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37033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Physical Mail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4160520"/>
            <a:ext cx="3931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4F3"/>
                </a:solidFill>
              </a:rPr>
              <a:t>Real postcards &amp; keepsakes
delivered to their door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438912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4CC8C3"/>
                </a:solidFill>
              </a:rPr>
              <a:t>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760720"/>
            <a:ext cx="10698480" cy="749808"/>
          </a:xfrm>
          <a:prstGeom prst="roundRect">
            <a:avLst>
              <a:gd name="adj" fmla="val 8000"/>
            </a:avLst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833872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2C2C"/>
                </a:solidFill>
              </a:rPr>
              <a:t>= A safe creator community powered by real mail that keeps kids creating.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640312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AAA8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CC8C3"/>
                </a:solidFill>
              </a:rPr>
              <a:t>MARKET 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96012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The mail revival is already a business.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81328"/>
            <a:ext cx="5943600" cy="45720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2788920" cy="1188720"/>
          </a:xfrm>
          <a:prstGeom prst="roundRect">
            <a:avLst>
              <a:gd name="adj" fmla="val 8000"/>
            </a:avLst>
          </a:prstGeom>
          <a:solidFill>
            <a:srgbClr val="103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2788920" cy="45720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82496"/>
            <a:ext cx="1097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4CC8C3"/>
                </a:solidFill>
              </a:rPr>
              <a:t>84%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664208"/>
            <a:ext cx="1463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F4F3"/>
                </a:solidFill>
              </a:rPr>
              <a:t>of Americans now
incorporating analog
lifestyle choices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5848" y="1600200"/>
            <a:ext cx="2788920" cy="1188720"/>
          </a:xfrm>
          <a:prstGeom prst="roundRect">
            <a:avLst>
              <a:gd name="adj" fmla="val 8000"/>
            </a:avLst>
          </a:prstGeom>
          <a:solidFill>
            <a:srgbClr val="103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55848" y="1600200"/>
            <a:ext cx="2788920" cy="45720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93008" y="1682496"/>
            <a:ext cx="1097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4CC8C3"/>
                </a:solidFill>
              </a:rPr>
              <a:t>150K+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1664208"/>
            <a:ext cx="1463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F4F3"/>
                </a:solidFill>
              </a:rPr>
              <a:t>TikTok posts
tagged #snailmail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4496" y="1600200"/>
            <a:ext cx="2788920" cy="1188720"/>
          </a:xfrm>
          <a:prstGeom prst="roundRect">
            <a:avLst>
              <a:gd name="adj" fmla="val 8000"/>
            </a:avLst>
          </a:prstGeom>
          <a:solidFill>
            <a:srgbClr val="103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54496" y="1600200"/>
            <a:ext cx="2788920" cy="45720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1656" y="1682496"/>
            <a:ext cx="1097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4CC8C3"/>
                </a:solidFill>
              </a:rPr>
              <a:t>~50%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88936" y="1664208"/>
            <a:ext cx="1463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F4F3"/>
                </a:solidFill>
              </a:rPr>
              <a:t>of Gen Z mails
something monthly
(Stamps.com)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53144" y="1600200"/>
            <a:ext cx="2788920" cy="1188720"/>
          </a:xfrm>
          <a:prstGeom prst="roundRect">
            <a:avLst>
              <a:gd name="adj" fmla="val 8000"/>
            </a:avLst>
          </a:prstGeom>
          <a:solidFill>
            <a:srgbClr val="103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53144" y="1600200"/>
            <a:ext cx="2788920" cy="45720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0304" y="1682496"/>
            <a:ext cx="1097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4CC8C3"/>
                </a:solidFill>
              </a:rPr>
              <a:t>63%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87584" y="1664208"/>
            <a:ext cx="1463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F4F3"/>
                </a:solidFill>
              </a:rPr>
              <a:t>of Gen Z intentionally
cutting screen time
(Talker Research)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529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CC8C3"/>
                </a:solidFill>
              </a:rPr>
              <a:t>REAL CREATORS  ·  REAL REVENUE  ·  ZERO PAID ADS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18688"/>
            <a:ext cx="2788920" cy="1874519"/>
          </a:xfrm>
          <a:prstGeom prst="roundRect">
            <a:avLst>
              <a:gd name="adj" fmla="val 8000"/>
            </a:avLst>
          </a:prstGeom>
          <a:solidFill>
            <a:srgbClr val="14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218688"/>
            <a:ext cx="2788920" cy="45720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331012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</a:rPr>
              <a:t>✉️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" y="3310128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4CC8C3"/>
                </a:solidFill>
              </a:rPr>
              <a:t>$45K/mo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3813048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The Tiny Post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178808"/>
            <a:ext cx="25146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AAA8"/>
                </a:solidFill>
              </a:rPr>
              <a:t>Hannah Gustafson · Austin TX
5,000 subs · $11/mo
0 paid ads, 0 PR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55848" y="3218688"/>
            <a:ext cx="2788920" cy="1874519"/>
          </a:xfrm>
          <a:prstGeom prst="roundRect">
            <a:avLst>
              <a:gd name="adj" fmla="val 8000"/>
            </a:avLst>
          </a:prstGeom>
          <a:solidFill>
            <a:srgbClr val="14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355848" y="3218688"/>
            <a:ext cx="2788920" cy="45720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93008" y="331012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</a:rPr>
              <a:t>🏛️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14216" y="3310128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4CC8C3"/>
                </a:solidFill>
              </a:rPr>
              <a:t>$18,300/mo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3008" y="3813048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The Architecture Club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93008" y="4178808"/>
            <a:ext cx="25146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AAA8"/>
                </a:solidFill>
              </a:rPr>
              <a:t>Trinity Shiroma · Orlando FL
2,700 subs · $8.88/mo
1,300 subs in first 3 months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54496" y="3218688"/>
            <a:ext cx="2788920" cy="1874519"/>
          </a:xfrm>
          <a:prstGeom prst="roundRect">
            <a:avLst>
              <a:gd name="adj" fmla="val 8000"/>
            </a:avLst>
          </a:prstGeom>
          <a:solidFill>
            <a:srgbClr val="14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54496" y="3218688"/>
            <a:ext cx="2788920" cy="45720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91656" y="331012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</a:rPr>
              <a:t>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12864" y="3310128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4CC8C3"/>
                </a:solidFill>
              </a:rPr>
              <a:t>4,000 subs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91656" y="3813048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Little Kitchen of Bo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91656" y="4178808"/>
            <a:ext cx="25146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AAA8"/>
                </a:solidFill>
              </a:rPr>
              <a:t>Bo Natakhin · Toronto
$20/issue · first drop
cooking zine via TikTok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53144" y="3218688"/>
            <a:ext cx="2788920" cy="1874519"/>
          </a:xfrm>
          <a:prstGeom prst="roundRect">
            <a:avLst>
              <a:gd name="adj" fmla="val 8000"/>
            </a:avLst>
          </a:prstGeom>
          <a:solidFill>
            <a:srgbClr val="14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153144" y="3218688"/>
            <a:ext cx="2788920" cy="45720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90304" y="331012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</a:rPr>
              <a:t>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11512" y="3310128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4CC8C3"/>
                </a:solidFill>
              </a:rPr>
              <a:t>$14K/mo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90304" y="3813048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The Cloud Report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90304" y="4178808"/>
            <a:ext cx="25146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AAA8"/>
                </a:solidFill>
              </a:rPr>
              <a:t>Christine Tyler Hill · Vermont
Crossing guard → 2,000 subs
3,600 on waitlist at launch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516636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CC8C3"/>
                </a:solidFill>
              </a:rPr>
              <a:t>COMMUNITY PROOF  ·  PEOPLE ALREADY CHOOSE REAL MAIL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5486400"/>
            <a:ext cx="2788920" cy="1261872"/>
          </a:xfrm>
          <a:prstGeom prst="roundRect">
            <a:avLst>
              <a:gd name="adj" fmla="val 8000"/>
            </a:avLst>
          </a:prstGeom>
          <a:solidFill>
            <a:srgbClr val="0E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56235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📮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5577840"/>
            <a:ext cx="1965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A0E1DF"/>
                </a:solidFill>
              </a:rPr>
              <a:t>806K members
87M+ postcards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3000" y="6236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AAA8"/>
                </a:solidFill>
              </a:rPr>
              <a:t>Postcrossing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355848" y="5486400"/>
            <a:ext cx="2788920" cy="1261872"/>
          </a:xfrm>
          <a:prstGeom prst="roundRect">
            <a:avLst>
              <a:gd name="adj" fmla="val 8000"/>
            </a:avLst>
          </a:prstGeom>
          <a:solidFill>
            <a:srgbClr val="0E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465576" y="56235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041648" y="5577840"/>
            <a:ext cx="1965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A0E1DF"/>
                </a:solidFill>
              </a:rPr>
              <a:t>1M+ letters
COVID-era strangers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41648" y="6236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AAA8"/>
                </a:solidFill>
              </a:rPr>
              <a:t>Letters Against Isolation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54496" y="5486400"/>
            <a:ext cx="2788920" cy="1261872"/>
          </a:xfrm>
          <a:prstGeom prst="roundRect">
            <a:avLst>
              <a:gd name="adj" fmla="val 8000"/>
            </a:avLst>
          </a:prstGeom>
          <a:solidFill>
            <a:srgbClr val="0E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64224" y="56235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🤝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0296" y="5577840"/>
            <a:ext cx="1965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A0E1DF"/>
                </a:solidFill>
              </a:rPr>
              <a:t>1M+ letters
100+ chapters, 70+ mailboxes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40296" y="6236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AAA8"/>
                </a:solidFill>
              </a:rPr>
              <a:t>Love For Our Elders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153144" y="5486400"/>
            <a:ext cx="2788920" cy="1261872"/>
          </a:xfrm>
          <a:prstGeom prst="roundRect">
            <a:avLst>
              <a:gd name="adj" fmla="val 8000"/>
            </a:avLst>
          </a:prstGeom>
          <a:solidFill>
            <a:srgbClr val="0E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262872" y="56235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🌍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838944" y="5577840"/>
            <a:ext cx="1965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A0E1DF"/>
                </a:solidFill>
              </a:rPr>
              <a:t>All 50 states
70+ countries active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838944" y="6236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AAA8"/>
                </a:solidFill>
              </a:rPr>
              <a:t>More Love Letters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640312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AAA8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CC8C3"/>
                </a:solidFill>
              </a:rPr>
              <a:t>THE PRODUCT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Five steps. One flywheel.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86000"/>
            <a:ext cx="1920240" cy="2743200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2350008"/>
            <a:ext cx="512064" cy="512064"/>
          </a:xfrm>
          <a:prstGeom prst="ellipse">
            <a:avLst/>
          </a:prstGeom>
          <a:solidFill>
            <a:srgbClr val="0D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50008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914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</a:rPr>
              <a:t>🖍️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46120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CREATE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794760"/>
            <a:ext cx="1737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0E1DF"/>
                </a:solidFill>
              </a:rPr>
              <a:t>Kid makes art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3383280"/>
            <a:ext cx="3383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CC8C3"/>
                </a:solidFill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61488" y="2286000"/>
            <a:ext cx="1920240" cy="2743200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52928" y="2350008"/>
            <a:ext cx="512064" cy="512064"/>
          </a:xfrm>
          <a:prstGeom prst="ellipse">
            <a:avLst/>
          </a:prstGeom>
          <a:solidFill>
            <a:srgbClr val="0D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52928" y="2350008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4408" y="2377440"/>
            <a:ext cx="914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</a:rPr>
              <a:t>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2928" y="3246120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UPLOAD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2928" y="3794760"/>
            <a:ext cx="1737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0E1DF"/>
                </a:solidFill>
              </a:rPr>
              <a:t>Photo to 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3168" y="3383280"/>
            <a:ext cx="3383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CC8C3"/>
                </a:solidFill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65776" y="2286000"/>
            <a:ext cx="1920240" cy="2743200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157216" y="2350008"/>
            <a:ext cx="512064" cy="512064"/>
          </a:xfrm>
          <a:prstGeom prst="ellipse">
            <a:avLst/>
          </a:prstGeom>
          <a:solidFill>
            <a:srgbClr val="0D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57216" y="2350008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68696" y="2377440"/>
            <a:ext cx="914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</a:rPr>
              <a:t>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3246120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ENCOURAGED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57216" y="3794760"/>
            <a:ext cx="1737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0E1DF"/>
                </a:solidFill>
              </a:rPr>
              <a:t>Reactions + AI
feedback + peers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77456" y="3383280"/>
            <a:ext cx="3383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CC8C3"/>
                </a:solidFill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70064" y="2286000"/>
            <a:ext cx="1920240" cy="2743200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461504" y="2350008"/>
            <a:ext cx="512064" cy="512064"/>
          </a:xfrm>
          <a:prstGeom prst="ellipse">
            <a:avLst/>
          </a:prstGeom>
          <a:solidFill>
            <a:srgbClr val="0D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61504" y="2350008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72984" y="2377440"/>
            <a:ext cx="914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</a:rPr>
              <a:t>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61504" y="3246120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MAILED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61504" y="3794760"/>
            <a:ext cx="1737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0E1DF"/>
                </a:solidFill>
              </a:rPr>
              <a:t>Real postcard
arrives at home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81744" y="3383280"/>
            <a:ext cx="3383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CC8C3"/>
                </a:solidFill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74352" y="2286000"/>
            <a:ext cx="1920240" cy="2743200"/>
          </a:xfrm>
          <a:prstGeom prst="roundRect">
            <a:avLst>
              <a:gd name="adj" fmla="val 8000"/>
            </a:avLst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765792" y="2350008"/>
            <a:ext cx="512064" cy="512064"/>
          </a:xfrm>
          <a:prstGeom prst="ellipse">
            <a:avLst/>
          </a:prstGeom>
          <a:solidFill>
            <a:srgbClr val="0D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65792" y="2350008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77272" y="2377440"/>
            <a:ext cx="914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</a:rPr>
              <a:t>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65792" y="3246120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CREATE
AGAIN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65792" y="3794760"/>
            <a:ext cx="1737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0E1DF"/>
                </a:solidFill>
              </a:rPr>
              <a:t>Cycle repeats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394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4CC8C3"/>
                </a:solidFill>
              </a:rPr>
              <a:t>↩  The loop is the product. Mail closes it.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640312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AAA8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08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CC8C3"/>
                </a:solidFill>
              </a:rPr>
              <a:t>EXPERIENCE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4114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</a:rPr>
              <a:t>What the
Kid Sees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517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88336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4F3"/>
                </a:solidFill>
              </a:rPr>
              <a:t>Their art gallery — front and center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64991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401567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4F3"/>
                </a:solidFill>
              </a:rPr>
              <a:t>Stars, hearts, and encouraging reactions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78224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11480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4F3"/>
                </a:solidFill>
              </a:rPr>
              <a:t>Monthly challenge prompts to create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791456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828032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4F3"/>
                </a:solidFill>
              </a:rPr>
              <a:t>Milestone badges and creator level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504688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541264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4F3"/>
                </a:solidFill>
              </a:rPr>
              <a:t>Mail tracker — "Your postcard was mailed!"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731520"/>
            <a:ext cx="2743200" cy="5303520"/>
          </a:xfrm>
          <a:prstGeom prst="roundRect">
            <a:avLst>
              <a:gd name="adj" fmla="val 8000"/>
            </a:avLst>
          </a:prstGeom>
          <a:solidFill>
            <a:srgbClr val="1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0" y="731520"/>
            <a:ext cx="2743200" cy="5303520"/>
          </a:xfrm>
          <a:prstGeom prst="rect">
            <a:avLst/>
          </a:prstGeom>
          <a:solidFill>
            <a:srgbClr val="1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897880" y="1005840"/>
            <a:ext cx="2286000" cy="4572000"/>
          </a:xfrm>
          <a:prstGeom prst="rect">
            <a:avLst/>
          </a:prstGeom>
          <a:solidFill>
            <a:srgbClr val="0F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675120" y="868680"/>
            <a:ext cx="731520" cy="182880"/>
          </a:xfrm>
          <a:prstGeom prst="roundRect">
            <a:avLst>
              <a:gd name="adj" fmla="val 8000"/>
            </a:avLst>
          </a:prstGeom>
          <a:solidFill>
            <a:srgbClr val="0D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0" y="6035040"/>
            <a:ext cx="365760" cy="365760"/>
          </a:xfrm>
          <a:prstGeom prst="ellipse">
            <a:avLst/>
          </a:prstGeom>
          <a:solidFill>
            <a:srgbClr val="28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11430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🎨  My Art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89320" y="1508760"/>
            <a:ext cx="2103120" cy="36576"/>
          </a:xfrm>
          <a:prstGeom prst="rect">
            <a:avLst/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89320" y="1600200"/>
            <a:ext cx="1005840" cy="868680"/>
          </a:xfrm>
          <a:prstGeom prst="roundRect">
            <a:avLst>
              <a:gd name="adj" fmla="val 8000"/>
            </a:avLst>
          </a:prstGeom>
          <a:solidFill>
            <a:srgbClr val="1E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80760" y="1664208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86600" y="1600200"/>
            <a:ext cx="1005840" cy="868680"/>
          </a:xfrm>
          <a:prstGeom prst="roundRect">
            <a:avLst>
              <a:gd name="adj" fmla="val 8000"/>
            </a:avLst>
          </a:prstGeom>
          <a:solidFill>
            <a:srgbClr val="1E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78040" y="1664208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89320" y="2560320"/>
            <a:ext cx="1005840" cy="868680"/>
          </a:xfrm>
          <a:prstGeom prst="roundRect">
            <a:avLst>
              <a:gd name="adj" fmla="val 8000"/>
            </a:avLst>
          </a:prstGeom>
          <a:solidFill>
            <a:srgbClr val="1E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80760" y="2624328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86600" y="2560320"/>
            <a:ext cx="1005840" cy="868680"/>
          </a:xfrm>
          <a:prstGeom prst="roundRect">
            <a:avLst>
              <a:gd name="adj" fmla="val 8000"/>
            </a:avLst>
          </a:prstGeom>
          <a:solidFill>
            <a:srgbClr val="1E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78040" y="2624328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9320" y="35661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E1DF"/>
                </a:solidFill>
              </a:rPr>
              <a:t>⭐ 12   ❤️ 8   🎉 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89320" y="3977639"/>
            <a:ext cx="2103120" cy="594360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80760" y="406908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📬  Postcard in transit!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182880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A0E1DF"/>
                </a:solidFill>
              </a:rPr>
              <a:t>No open feeds.
No follower counts.
Just their own creative world.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40312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AAA8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0" y="0"/>
            <a:ext cx="5056632" cy="6858000"/>
          </a:xfrm>
          <a:prstGeom prst="rect">
            <a:avLst/>
          </a:prstGeom>
          <a:solidFill>
            <a:srgbClr val="08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CC8C3"/>
                </a:solidFill>
              </a:rPr>
              <a:t>EXPERIENCE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6400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</a:rPr>
              <a:t>What the
Parent Sees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779776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4F3"/>
                </a:solidFill>
              </a:rPr>
              <a:t>Full approval control — nothing ships without parent 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290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👁️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465576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4F3"/>
                </a:solidFill>
              </a:rPr>
              <a:t>Private child profiles, no strangers can 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1148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151376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4F3"/>
                </a:solidFill>
              </a:rPr>
              <a:t>Moderated reactions only — no open DMs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8006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837176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4F3"/>
                </a:solidFill>
              </a:rPr>
              <a:t>Printed keepsake books — optional add-on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4864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522976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4F3"/>
                </a:solidFill>
              </a:rPr>
              <a:t>Creativity streak tracker and milestone alerts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914400"/>
            <a:ext cx="4297680" cy="3108960"/>
          </a:xfrm>
          <a:prstGeom prst="rect">
            <a:avLst/>
          </a:prstGeom>
          <a:solidFill>
            <a:srgbClr val="1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543800" y="1051560"/>
            <a:ext cx="4023360" cy="2788920"/>
          </a:xfrm>
          <a:prstGeom prst="rect">
            <a:avLst/>
          </a:prstGeom>
          <a:solidFill>
            <a:srgbClr val="0F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32320" y="4023360"/>
            <a:ext cx="5056632" cy="201168"/>
          </a:xfrm>
          <a:prstGeom prst="rect">
            <a:avLst/>
          </a:prstGeom>
          <a:solidFill>
            <a:srgbClr val="28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5240" y="114300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Parent Dashboard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35240" y="1463040"/>
            <a:ext cx="3840480" cy="27432"/>
          </a:xfrm>
          <a:prstGeom prst="rect">
            <a:avLst/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35240" y="1554480"/>
            <a:ext cx="1188720" cy="594360"/>
          </a:xfrm>
          <a:prstGeom prst="roundRect">
            <a:avLst>
              <a:gd name="adj" fmla="val 8000"/>
            </a:avLst>
          </a:prstGeom>
          <a:solidFill>
            <a:srgbClr val="1E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08392" y="16002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CC8C3"/>
                </a:solidFill>
              </a:rPr>
              <a:t>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08392" y="1856231"/>
            <a:ext cx="1051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AAA8"/>
                </a:solidFill>
              </a:rPr>
              <a:t>artworks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1554480"/>
            <a:ext cx="1188720" cy="594360"/>
          </a:xfrm>
          <a:prstGeom prst="roundRect">
            <a:avLst>
              <a:gd name="adj" fmla="val 8000"/>
            </a:avLst>
          </a:prstGeom>
          <a:solidFill>
            <a:srgbClr val="1E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34271" y="16002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CC8C3"/>
                </a:solidFill>
              </a:rPr>
              <a:t>🏅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1" y="1856231"/>
            <a:ext cx="1051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AAA8"/>
                </a:solidFill>
              </a:rPr>
              <a:t>badges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87000" y="1554480"/>
            <a:ext cx="1188720" cy="594360"/>
          </a:xfrm>
          <a:prstGeom prst="roundRect">
            <a:avLst>
              <a:gd name="adj" fmla="val 8000"/>
            </a:avLst>
          </a:prstGeom>
          <a:solidFill>
            <a:srgbClr val="1E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60152" y="16002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CC8C3"/>
                </a:solidFill>
              </a:rPr>
              <a:t>📬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60152" y="1856231"/>
            <a:ext cx="1051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AAA8"/>
                </a:solidFill>
              </a:rPr>
              <a:t>mailed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2286000"/>
            <a:ext cx="3840480" cy="685800"/>
          </a:xfrm>
          <a:prstGeom prst="roundRect">
            <a:avLst>
              <a:gd name="adj" fmla="val 8000"/>
            </a:avLst>
          </a:prstGeom>
          <a:solidFill>
            <a:srgbClr val="2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26679" y="235000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D060"/>
                </a:solidFill>
              </a:rPr>
              <a:t>⏳  Pending approval: 1 artwork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239572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CC8C3"/>
                </a:solidFill>
              </a:rPr>
              <a:t>Approve  |  Decline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35240" y="3063240"/>
            <a:ext cx="3840480" cy="594360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26679" y="312724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📦  Order keepsake book — $19.99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502920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4CC8C3"/>
                </a:solidFill>
              </a:rPr>
              <a:t>Parents are in control — always.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640312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AAA8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CC8C3"/>
                </a:solidFill>
              </a:rPr>
              <a:t>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</a:rPr>
              <a:t>What Grandparents See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737360"/>
            <a:ext cx="4114800" cy="45720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874519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A0E1DF"/>
                </a:solidFill>
              </a:rPr>
              <a:t>No app required. No account.
Just joy in the mailbox.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017520"/>
            <a:ext cx="2560320" cy="2286000"/>
          </a:xfrm>
          <a:prstGeom prst="roundRect">
            <a:avLst>
              <a:gd name="adj" fmla="val 8000"/>
            </a:avLst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154680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</a:rPr>
              <a:t>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3218688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Postcard arrives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40480"/>
            <a:ext cx="2331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E1DF"/>
                </a:solidFill>
              </a:rPr>
              <a:t>Real mail with
kid's original art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3017520"/>
            <a:ext cx="2560320" cy="2286000"/>
          </a:xfrm>
          <a:prstGeom prst="roundRect">
            <a:avLst>
              <a:gd name="adj" fmla="val 8000"/>
            </a:avLst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3154680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</a:rPr>
              <a:t>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3218688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QR code inside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840480"/>
            <a:ext cx="2331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E1DF"/>
                </a:solidFill>
              </a:rPr>
              <a:t>Scan to see the
online gallery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3017520"/>
            <a:ext cx="2560320" cy="2286000"/>
          </a:xfrm>
          <a:prstGeom prst="roundRect">
            <a:avLst>
              <a:gd name="adj" fmla="val 8000"/>
            </a:avLst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3154680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</a:rPr>
              <a:t>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3218688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Keepsake book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840480"/>
            <a:ext cx="2331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E1DF"/>
                </a:solidFill>
              </a:rPr>
              <a:t>Optional printed
book of all artwork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3017520"/>
            <a:ext cx="2560320" cy="2286000"/>
          </a:xfrm>
          <a:prstGeom prst="roundRect">
            <a:avLst>
              <a:gd name="adj" fmla="val 8000"/>
            </a:avLst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3154680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</a:rPr>
              <a:t>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21240" y="3218688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Reaction card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3840480"/>
            <a:ext cx="2331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E1DF"/>
                </a:solidFill>
              </a:rPr>
              <a:t>Pre-stamped note
back to the kid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669280"/>
            <a:ext cx="54864" cy="822960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687568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E8F4F3"/>
                </a:solidFill>
              </a:rPr>
              <a:t>"Grandparents don't need an account.
They just get a letter from their grandkid."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2286000"/>
            <a:ext cx="21031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600" b="0" i="0">
                <a:solidFill>
                  <a:srgbClr val="FFFFFF"/>
                </a:solidFill>
              </a:rPr>
              <a:t>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43891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AAA8"/>
                </a:solidFill>
              </a:rPr>
              <a:t>The best gift a grandparent
can receive — made by the kid.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640312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AAA8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CC8C3"/>
                </a:solidFill>
              </a:rPr>
              <a:t>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Simple. Predictable. Family-Friendly.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37360"/>
            <a:ext cx="3566160" cy="5029200"/>
          </a:xfrm>
          <a:prstGeom prst="roundRect">
            <a:avLst>
              <a:gd name="adj" fmla="val 8000"/>
            </a:avLst>
          </a:prstGeom>
          <a:solidFill>
            <a:srgbClr val="103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737360"/>
            <a:ext cx="3566160" cy="54864"/>
          </a:xfrm>
          <a:prstGeom prst="rect">
            <a:avLst/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874519"/>
            <a:ext cx="1371600" cy="320040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0195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C2C"/>
                </a:solidFill>
              </a:rPr>
              <a:t>Starter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860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8807D"/>
                </a:solidFill>
              </a:rPr>
              <a:t>FREE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97480"/>
            <a:ext cx="3200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</a:rPr>
              <a:t>$0/mo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37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AAA8"/>
                </a:solidFill>
              </a:rPr>
              <a:t>per month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657600"/>
            <a:ext cx="3200400" cy="27432"/>
          </a:xfrm>
          <a:prstGeom prst="rect">
            <a:avLst/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49039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✓  Upload up to 3 artworks/mo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87952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✓  Reactions from family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626864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✓  Monthly challenge prompt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065775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AAA8"/>
                </a:solidFill>
              </a:rPr>
              <a:t>✗  No mail included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737360"/>
            <a:ext cx="3566160" cy="5029200"/>
          </a:xfrm>
          <a:prstGeom prst="roundRect">
            <a:avLst>
              <a:gd name="adj" fmla="val 8000"/>
            </a:avLst>
          </a:prstGeom>
          <a:solidFill>
            <a:srgbClr val="103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1737360"/>
            <a:ext cx="3566160" cy="54864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89120" y="1874519"/>
            <a:ext cx="1371600" cy="320040"/>
          </a:xfrm>
          <a:prstGeom prst="roundRect">
            <a:avLst>
              <a:gd name="adj" fmla="val 8000"/>
            </a:avLst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40" y="190195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C2C"/>
                </a:solidFill>
              </a:rPr>
              <a:t>Most Popular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22860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4CC8C3"/>
                </a:solidFill>
              </a:rPr>
              <a:t>CREATOR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2697480"/>
            <a:ext cx="3200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</a:rPr>
              <a:t>$9/mo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3337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AAA8"/>
                </a:solidFill>
              </a:rPr>
              <a:t>per month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560" y="3657600"/>
            <a:ext cx="3200400" cy="27432"/>
          </a:xfrm>
          <a:prstGeom prst="rect">
            <a:avLst/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60" y="3749039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✓  Unlimited uploads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4187952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✓  1 postcard mailed/month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626864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✓  AI feedback + peer community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5065775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✓  Milestone badges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8160" y="1737360"/>
            <a:ext cx="3566160" cy="5029200"/>
          </a:xfrm>
          <a:prstGeom prst="roundRect">
            <a:avLst>
              <a:gd name="adj" fmla="val 8000"/>
            </a:avLst>
          </a:prstGeom>
          <a:solidFill>
            <a:srgbClr val="103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38160" y="1737360"/>
            <a:ext cx="3566160" cy="54864"/>
          </a:xfrm>
          <a:prstGeom prst="rect">
            <a:avLst/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229600" y="1874519"/>
            <a:ext cx="1371600" cy="320040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190195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C2C"/>
                </a:solidFill>
              </a:rPr>
              <a:t>Best Value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22860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8807D"/>
                </a:solidFill>
              </a:rPr>
              <a:t>FAMILY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2697480"/>
            <a:ext cx="3200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</a:rPr>
              <a:t>$19/mo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3337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AAA8"/>
                </a:solidFill>
              </a:rPr>
              <a:t>per month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21040" y="3657600"/>
            <a:ext cx="3200400" cy="27432"/>
          </a:xfrm>
          <a:prstGeom prst="rect">
            <a:avLst/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21040" y="3749039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✓  Up to 3 kids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4187952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✓  3 postcards/month total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4626864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✓  Grandparent sharing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5065775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✓  Annual keepsake book included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446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CC8C3"/>
                </a:solidFill>
              </a:rPr>
              <a:t>Add-ons: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20240" y="6446520"/>
            <a:ext cx="9784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AAA8"/>
                </a:solidFill>
              </a:rPr>
              <a:t>Extra postcards: $2/ea   |   Keepsake book: $19.99   |   Grandparent bundle: $4.99/mo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640312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AAA8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CC8C3"/>
                </a:solidFill>
              </a:rPr>
              <a:t>GROWTH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Built-In Growth Loops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5486400" cy="2011680"/>
          </a:xfrm>
          <a:prstGeom prst="roundRect">
            <a:avLst>
              <a:gd name="adj" fmla="val 8000"/>
            </a:avLst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011680"/>
            <a:ext cx="777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</a:rPr>
              <a:t>👨‍👩‍👧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05740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CC8C3"/>
                </a:solidFill>
              </a:rPr>
              <a:t>Grandparent Referral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514600"/>
            <a:ext cx="4206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Parent shares kid's art → Grandparent gets postcard → Grandparent asks for more → Parent upgrades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828800"/>
            <a:ext cx="5486400" cy="2011680"/>
          </a:xfrm>
          <a:prstGeom prst="roundRect">
            <a:avLst>
              <a:gd name="adj" fmla="val 8000"/>
            </a:avLst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2011680"/>
            <a:ext cx="777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</a:rPr>
              <a:t>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05740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CC8C3"/>
                </a:solidFill>
              </a:rPr>
              <a:t>School Viral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514600"/>
            <a:ext cx="4206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Kid shows postcard at school → Classmate wants one → Parent signs up → New paying family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160520"/>
            <a:ext cx="5486400" cy="2011680"/>
          </a:xfrm>
          <a:prstGeom prst="roundRect">
            <a:avLst>
              <a:gd name="adj" fmla="val 8000"/>
            </a:avLst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4343400"/>
            <a:ext cx="777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</a:rPr>
              <a:t>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38912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CC8C3"/>
                </a:solidFill>
              </a:rPr>
              <a:t>Creator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846320"/>
            <a:ext cx="4206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Monthly themes drive uploads → Leaderboards create friendly competition → Low churn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160520"/>
            <a:ext cx="5486400" cy="2011680"/>
          </a:xfrm>
          <a:prstGeom prst="roundRect">
            <a:avLst>
              <a:gd name="adj" fmla="val 8000"/>
            </a:avLst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4343400"/>
            <a:ext cx="777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</a:rPr>
              <a:t>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438912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CC8C3"/>
                </a:solidFill>
              </a:rPr>
              <a:t>Keepsake Upsell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4846320"/>
            <a:ext cx="4206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12 months of art → End-of-year book prompt → $19.99 add-on → High-margin revenue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739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CC8C3"/>
                </a:solidFill>
              </a:rPr>
              <a:t>Organic growth is the strategy. Mail is the catalyst.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40312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AAA8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CC8C3"/>
                </a:solidFill>
              </a:rPr>
              <a:t>COMPETITIVE MOAT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5943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Hard to copy.
Harder to leave.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2596896"/>
            <a:ext cx="329184" cy="329184"/>
          </a:xfrm>
          <a:prstGeom prst="ellipse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56032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59689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Emotional Lock-In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944368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AAA8"/>
                </a:solidFill>
              </a:rPr>
              <a:t>A child's art history lives here. You don't delete the app that holds your kid's masterpieces.</a:t>
            </a:r>
          </a:p>
        </p:txBody>
      </p:sp>
      <p:sp>
        <p:nvSpPr>
          <p:cNvPr id="9" name="Oval 8"/>
          <p:cNvSpPr/>
          <p:nvPr/>
        </p:nvSpPr>
        <p:spPr>
          <a:xfrm>
            <a:off x="521208" y="3401567"/>
            <a:ext cx="329184" cy="329184"/>
          </a:xfrm>
          <a:prstGeom prst="ellipse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364991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401567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Physical + Digital Fusion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749039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AAA8"/>
                </a:solidFill>
              </a:rPr>
              <a:t>No tech-only competitor can replicate real mail. No mail company can replicate the community.</a:t>
            </a:r>
          </a:p>
        </p:txBody>
      </p:sp>
      <p:sp>
        <p:nvSpPr>
          <p:cNvPr id="13" name="Oval 12"/>
          <p:cNvSpPr/>
          <p:nvPr/>
        </p:nvSpPr>
        <p:spPr>
          <a:xfrm>
            <a:off x="521208" y="4206239"/>
            <a:ext cx="329184" cy="329184"/>
          </a:xfrm>
          <a:prstGeom prst="ellipse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169663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👨‍👩‍👧‍👦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20623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Family Network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553711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AAA8"/>
                </a:solidFill>
              </a:rPr>
              <a:t>Each family adds grandparents, aunts, uncles. Every connection deepens retention.</a:t>
            </a:r>
          </a:p>
        </p:txBody>
      </p:sp>
      <p:sp>
        <p:nvSpPr>
          <p:cNvPr id="17" name="Oval 16"/>
          <p:cNvSpPr/>
          <p:nvPr/>
        </p:nvSpPr>
        <p:spPr>
          <a:xfrm>
            <a:off x="521208" y="5010912"/>
            <a:ext cx="329184" cy="329184"/>
          </a:xfrm>
          <a:prstGeom prst="ellipse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974336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🛡️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01091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Trust Infrastructure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358384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AAA8"/>
                </a:solidFill>
              </a:rPr>
              <a:t>COPPA-compliant from day one. No DMs, moderated content, parent approval. Trust is the product.</a:t>
            </a:r>
          </a:p>
        </p:txBody>
      </p:sp>
      <p:sp>
        <p:nvSpPr>
          <p:cNvPr id="21" name="Oval 20"/>
          <p:cNvSpPr/>
          <p:nvPr/>
        </p:nvSpPr>
        <p:spPr>
          <a:xfrm>
            <a:off x="521208" y="5815584"/>
            <a:ext cx="329184" cy="329184"/>
          </a:xfrm>
          <a:prstGeom prst="ellipse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779008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5815584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Creative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6163056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AAA8"/>
                </a:solidFill>
              </a:rPr>
              <a:t>Proprietary dataset of children's creative development = future personalization no one else has.</a:t>
            </a:r>
          </a:p>
        </p:txBody>
      </p:sp>
      <p:sp>
        <p:nvSpPr>
          <p:cNvPr id="25" name="Oval 24"/>
          <p:cNvSpPr/>
          <p:nvPr/>
        </p:nvSpPr>
        <p:spPr>
          <a:xfrm>
            <a:off x="8321040" y="2011680"/>
            <a:ext cx="3291840" cy="3291840"/>
          </a:xfrm>
          <a:prstGeom prst="ellipse">
            <a:avLst/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78240" y="2468880"/>
            <a:ext cx="2377440" cy="2377440"/>
          </a:xfrm>
          <a:prstGeom prst="ellipse">
            <a:avLst/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235440" y="2926080"/>
            <a:ext cx="1463040" cy="1463040"/>
          </a:xfrm>
          <a:prstGeom prst="ellipse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01200" y="329184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64040" y="338328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2C2C"/>
                </a:solidFill>
              </a:rPr>
              <a:t>K3C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40312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AAA8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CC8C3"/>
                </a:solidFill>
              </a:rPr>
              <a:t>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The numbers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CC8C3"/>
                </a:solidFill>
              </a:rPr>
              <a:t>Creator Plan  —  $9/month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4028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4F3"/>
                </a:solidFill>
              </a:rPr>
              <a:t>Postcard printing + postage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24028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E8F4F3"/>
                </a:solidFill>
              </a:rPr>
              <a:t>$1.80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15768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4F3"/>
                </a:solidFill>
              </a:rPr>
              <a:t>Platform / infra per user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71576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E8F4F3"/>
                </a:solidFill>
              </a:rPr>
              <a:t>$0.60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191256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4F3"/>
                </a:solidFill>
              </a:rPr>
              <a:t>AI moderation cost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191256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E8F4F3"/>
                </a:solidFill>
              </a:rPr>
              <a:t>$0.25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66744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4F3"/>
                </a:solidFill>
              </a:rPr>
              <a:t>Customer support allocation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666744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E8F4F3"/>
                </a:solidFill>
              </a:rPr>
              <a:t>$0.35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96512"/>
            <a:ext cx="5303520" cy="27432"/>
          </a:xfrm>
          <a:prstGeom prst="rect">
            <a:avLst/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14223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CC8C3"/>
                </a:solidFill>
              </a:rPr>
              <a:t>Total COGS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142232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4CC8C3"/>
                </a:solidFill>
              </a:rPr>
              <a:t>$3.00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754880"/>
            <a:ext cx="5303520" cy="914400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864608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Gross Margin: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800600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4CC8C3"/>
                </a:solidFill>
              </a:rPr>
              <a:t>67%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1645920"/>
            <a:ext cx="2468880" cy="1828800"/>
          </a:xfrm>
          <a:prstGeom prst="roundRect">
            <a:avLst>
              <a:gd name="adj" fmla="val 8000"/>
            </a:avLst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1828800"/>
            <a:ext cx="2194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4CC8C3"/>
                </a:solidFill>
              </a:rPr>
              <a:t>$38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256032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Avg monthly revenue
per family (blended)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0" y="1645920"/>
            <a:ext cx="2468880" cy="1828800"/>
          </a:xfrm>
          <a:prstGeom prst="roundRect">
            <a:avLst>
              <a:gd name="adj" fmla="val 8000"/>
            </a:avLst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81160" y="1828800"/>
            <a:ext cx="2194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4CC8C3"/>
                </a:solidFill>
              </a:rPr>
              <a:t>18 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1160" y="256032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Target payback period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3931920"/>
            <a:ext cx="2468880" cy="1828800"/>
          </a:xfrm>
          <a:prstGeom prst="roundRect">
            <a:avLst>
              <a:gd name="adj" fmla="val 8000"/>
            </a:avLst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60" y="4114800"/>
            <a:ext cx="2194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4CC8C3"/>
                </a:solidFill>
              </a:rPr>
              <a:t>$680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484632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LTV estimate
(18-month avg tenure)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0" y="3931920"/>
            <a:ext cx="2468880" cy="1828800"/>
          </a:xfrm>
          <a:prstGeom prst="roundRect">
            <a:avLst>
              <a:gd name="adj" fmla="val 8000"/>
            </a:avLst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81160" y="4114800"/>
            <a:ext cx="2194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4CC8C3"/>
                </a:solidFill>
              </a:rPr>
              <a:t>~$18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81160" y="484632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Blended CAC target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640312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AAA8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CC8C3"/>
                </a:solidFill>
              </a:rPr>
              <a:t>RISKS + 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We've thought about the hard stuff.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47C5C"/>
                </a:solidFill>
              </a:rPr>
              <a:t>Known Risks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32257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47C5C"/>
                </a:solidFill>
              </a:rPr>
              <a:t>Churn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88336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F4F3"/>
                </a:solidFill>
              </a:rPr>
              <a:t>Kids age out — mitigated by family plan / sibling continuity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004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23697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47C5C"/>
                </a:solidFill>
              </a:rPr>
              <a:t>Mail ops complexity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02736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F4F3"/>
                </a:solidFill>
              </a:rPr>
              <a:t>Partnering with print-on-demand + USPS bulk rate from day 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1148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⚖️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5137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47C5C"/>
                </a:solidFill>
              </a:rPr>
              <a:t>COPPA compliance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17136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F4F3"/>
                </a:solidFill>
              </a:rPr>
              <a:t>Children's privacy law built into architecture, not bolted 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0292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06577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47C5C"/>
                </a:solidFill>
              </a:rPr>
              <a:t>Screen time concerns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431536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F4F3"/>
                </a:solidFill>
              </a:rPr>
              <a:t>Positioned as creative tool — parents already pay for art classes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691640"/>
            <a:ext cx="36576" cy="4572000"/>
          </a:xfrm>
          <a:prstGeom prst="rect">
            <a:avLst/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373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CC8C3"/>
                </a:solidFill>
              </a:rPr>
              <a:t>Safety Infrastructure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2860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🛡️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234086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No open DMs — ever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98094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👁️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303580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AI-assisted content moderation + human review queue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675887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730751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Private child profiles — not searchable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37083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442569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Parent must approve every upload before it's visible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506577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51206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COPPA-compliant data handling from day one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7607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581558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AI feedback is encouraging only — no negative scores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640312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AAA8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0" y="457200"/>
            <a:ext cx="4572000" cy="5943600"/>
          </a:xfrm>
          <a:prstGeom prst="roundRect">
            <a:avLst>
              <a:gd name="adj" fmla="val 8000"/>
            </a:avLst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72400" y="1371600"/>
            <a:ext cx="3657600" cy="3657600"/>
          </a:xfrm>
          <a:prstGeom prst="ellipse">
            <a:avLst/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0" y="2377440"/>
            <a:ext cx="1645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0" i="0">
                <a:solidFill>
                  <a:srgbClr val="FFFFFF"/>
                </a:solidFill>
              </a:rPr>
              <a:t>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CC8C3"/>
                </a:solidFill>
              </a:rPr>
              <a:t>TEST PLAN + 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5943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</a:rPr>
              <a:t>90-Day
Launch Plan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743200"/>
            <a:ext cx="6583680" cy="1078992"/>
          </a:xfrm>
          <a:prstGeom prst="roundRect">
            <a:avLst>
              <a:gd name="adj" fmla="val 8000"/>
            </a:avLst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2743200"/>
            <a:ext cx="960120" cy="1078992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834640"/>
            <a:ext cx="868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Phase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18688"/>
            <a:ext cx="868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E1DF"/>
                </a:solidFill>
              </a:rPr>
              <a:t>Days 1–30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85292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CC8C3"/>
                </a:solidFill>
              </a:rPr>
              <a:t>Waitlist + Community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3218688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3"/>
                </a:solidFill>
              </a:rPr>
              <a:t>Build email list of 500 families. Run parent Facebook group. Validate art upload flow with 20 beta kids.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023360"/>
            <a:ext cx="6583680" cy="1078992"/>
          </a:xfrm>
          <a:prstGeom prst="roundRect">
            <a:avLst>
              <a:gd name="adj" fmla="val 8000"/>
            </a:avLst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4023360"/>
            <a:ext cx="960120" cy="1078992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114800"/>
            <a:ext cx="868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Phase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498848"/>
            <a:ext cx="868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E1DF"/>
                </a:solidFill>
              </a:rPr>
              <a:t>Days 31–60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13308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CC8C3"/>
                </a:solidFill>
              </a:rPr>
              <a:t>First Mail Drop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498848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3"/>
                </a:solidFill>
              </a:rPr>
              <a:t>50 paid Creator subscribers. Mail first round of postcards. Capture parent reactions + kid responses.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303520"/>
            <a:ext cx="6583680" cy="1078992"/>
          </a:xfrm>
          <a:prstGeom prst="roundRect">
            <a:avLst>
              <a:gd name="adj" fmla="val 8000"/>
            </a:avLst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57200" y="5303520"/>
            <a:ext cx="960120" cy="1078992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5394960"/>
            <a:ext cx="868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Phase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779008"/>
            <a:ext cx="868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E1DF"/>
                </a:solidFill>
              </a:rPr>
              <a:t>Days 61–90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41324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CC8C3"/>
                </a:solidFill>
              </a:rPr>
              <a:t>Prove Retention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5779008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3"/>
                </a:solidFill>
              </a:rPr>
              <a:t>Measure 30-day re-upload rate. Target: 60%+ kids upload again after receiving their first postcard.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760720"/>
            <a:ext cx="6583680" cy="822960"/>
          </a:xfrm>
          <a:prstGeom prst="roundRect">
            <a:avLst>
              <a:gd name="adj" fmla="val 8000"/>
            </a:avLst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585216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C2C"/>
                </a:solidFill>
              </a:rPr>
              <a:t>The Ask: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11680" y="58521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C2C"/>
                </a:solidFill>
              </a:rPr>
              <a:t>$150K pre-seed  ·  12 months  ·  1,000 paying families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79" y="576072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0E1DF"/>
                </a:solidFill>
              </a:rPr>
              <a:t>dc.long123@gmail.com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2648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AAA8"/>
                </a:solidFill>
              </a:rPr>
              <a:t>kidscreativityconfidenceclub.com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40312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AAA8"/>
                </a:solidFill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