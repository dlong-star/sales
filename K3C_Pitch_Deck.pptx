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C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"/>
            <a:ext cx="12188952" cy="54864"/>
          </a:xfrm>
          <a:prstGeom prst="rect">
            <a:avLst/>
          </a:prstGeom>
          <a:solidFill>
            <a:srgbClr val="4CC8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040880" y="365760"/>
            <a:ext cx="5120640" cy="5120640"/>
          </a:xfrm>
          <a:prstGeom prst="ellipse">
            <a:avLst/>
          </a:prstGeom>
          <a:solidFill>
            <a:srgbClr val="288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589520" y="914400"/>
            <a:ext cx="4023360" cy="4023360"/>
          </a:xfrm>
          <a:prstGeom prst="ellipse">
            <a:avLst/>
          </a:prstGeom>
          <a:solidFill>
            <a:srgbClr val="12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78240" y="2103120"/>
            <a:ext cx="1645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0" i="0">
                <a:solidFill>
                  <a:srgbClr val="FFFFFF"/>
                </a:solidFill>
              </a:rPr>
              <a:t>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058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4CC8C3"/>
                </a:solidFill>
              </a:rPr>
              <a:t>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56692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CC8C3"/>
                </a:solidFill>
              </a:rPr>
              <a:t>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5486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CC8C3"/>
                </a:solidFill>
              </a:rPr>
              <a:t>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50292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4CC8C3"/>
                </a:solidFill>
              </a:rPr>
              <a:t>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9144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CC8C3"/>
                </a:solidFill>
              </a:rPr>
              <a:t>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85216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✉️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585216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440" y="585216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🖍️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585216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585216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1280160"/>
            <a:ext cx="71323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800" b="1" i="0">
                <a:solidFill>
                  <a:srgbClr val="FFFFFF"/>
                </a:solidFill>
              </a:rPr>
              <a:t>Kids Creativity
Confidence Club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749039"/>
            <a:ext cx="4754880" cy="45720"/>
          </a:xfrm>
          <a:prstGeom prst="rect">
            <a:avLst/>
          </a:prstGeom>
          <a:solidFill>
            <a:srgbClr val="4CC8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9319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A0E1DF"/>
                </a:solidFill>
              </a:rPr>
              <a:t>A mail-powered creator community that helps kids keep creating 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3434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A0E1DF"/>
                </a:solidFill>
              </a:rPr>
              <a:t>turning imagination into encouragement, recognition, and real keepsakes.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074920"/>
            <a:ext cx="2148840" cy="438912"/>
          </a:xfrm>
          <a:prstGeom prst="roundRect">
            <a:avLst>
              <a:gd name="adj" fmla="val 8000"/>
            </a:avLst>
          </a:prstGeom>
          <a:solidFill>
            <a:srgbClr val="288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5093208"/>
            <a:ext cx="2011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🔒 Parent-Controlled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880360" y="5074920"/>
            <a:ext cx="2148840" cy="438912"/>
          </a:xfrm>
          <a:prstGeom prst="roundRect">
            <a:avLst>
              <a:gd name="adj" fmla="val 8000"/>
            </a:avLst>
          </a:prstGeom>
          <a:solidFill>
            <a:srgbClr val="288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971800" y="5093208"/>
            <a:ext cx="2011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📬 Real Mail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212079" y="5074920"/>
            <a:ext cx="2148840" cy="438912"/>
          </a:xfrm>
          <a:prstGeom prst="roundRect">
            <a:avLst>
              <a:gd name="adj" fmla="val 8000"/>
            </a:avLst>
          </a:prstGeom>
          <a:solidFill>
            <a:srgbClr val="288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03519" y="5093208"/>
            <a:ext cx="2011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🌟 Community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640312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AAA8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C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"/>
            <a:ext cx="12188952" cy="54864"/>
          </a:xfrm>
          <a:prstGeom prst="rect">
            <a:avLst/>
          </a:prstGeom>
          <a:solidFill>
            <a:srgbClr val="4CC8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389120" cy="6858000"/>
          </a:xfrm>
          <a:prstGeom prst="rect">
            <a:avLst/>
          </a:prstGeom>
          <a:solidFill>
            <a:srgbClr val="0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CC8C3"/>
                </a:solidFill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</a:rPr>
              <a:t>Kids Stop
Creating.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743200"/>
            <a:ext cx="2743200" cy="45720"/>
          </a:xfrm>
          <a:prstGeom prst="rect">
            <a:avLst/>
          </a:prstGeom>
          <a:solidFill>
            <a:srgbClr val="4CC8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3017520"/>
            <a:ext cx="128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4CC8C3"/>
                </a:solidFill>
              </a:rPr>
              <a:t>72%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301752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F4F3"/>
                </a:solidFill>
              </a:rPr>
              <a:t>of kids aged 10–14 say they
feel "not creative enough"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14800"/>
            <a:ext cx="128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4CC8C3"/>
                </a:solidFill>
              </a:rPr>
              <a:t>1 in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411480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F4F3"/>
                </a:solidFill>
              </a:rPr>
              <a:t>kids stop making art by
middle school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212079"/>
            <a:ext cx="128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4CC8C3"/>
                </a:solidFill>
              </a:rPr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5212079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F4F3"/>
                </a:solidFill>
              </a:rPr>
              <a:t>safe platforms built
around a child's artwork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914400"/>
            <a:ext cx="137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0" i="0">
                <a:solidFill>
                  <a:srgbClr val="FFFFFF"/>
                </a:solidFill>
              </a:rPr>
              <a:t>🖍️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0" y="219456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4CC8C3"/>
                </a:solidFill>
              </a:rPr>
              <a:t>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274320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1">
                <a:solidFill>
                  <a:srgbClr val="F7D060"/>
                </a:solidFill>
              </a:rPr>
              <a:t>"I'm not good
enough."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0" y="4846320"/>
            <a:ext cx="2240280" cy="914400"/>
          </a:xfrm>
          <a:prstGeom prst="roundRect">
            <a:avLst>
              <a:gd name="adj" fmla="val 8000"/>
            </a:avLst>
          </a:prstGeom>
          <a:solidFill>
            <a:srgbClr val="288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81728" y="4901184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No audience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81728" y="5230368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E1DF"/>
                </a:solidFill>
              </a:rPr>
              <a:t>Nobody sees their work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40880" y="4846320"/>
            <a:ext cx="2240280" cy="914400"/>
          </a:xfrm>
          <a:prstGeom prst="roundRect">
            <a:avLst>
              <a:gd name="adj" fmla="val 8000"/>
            </a:avLst>
          </a:prstGeom>
          <a:solidFill>
            <a:srgbClr val="288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50608" y="4901184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No feedback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50608" y="5230368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E1DF"/>
                </a:solidFill>
              </a:rPr>
              <a:t>Silence kills motivation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509760" y="4846320"/>
            <a:ext cx="2240280" cy="914400"/>
          </a:xfrm>
          <a:prstGeom prst="roundRect">
            <a:avLst>
              <a:gd name="adj" fmla="val 8000"/>
            </a:avLst>
          </a:prstGeom>
          <a:solidFill>
            <a:srgbClr val="288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19488" y="4901184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No continuity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19488" y="5230368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E1DF"/>
                </a:solidFill>
              </a:rPr>
              <a:t>No reason to create again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640312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AAA8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C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"/>
            <a:ext cx="12188952" cy="54864"/>
          </a:xfrm>
          <a:prstGeom prst="rect">
            <a:avLst/>
          </a:prstGeom>
          <a:solidFill>
            <a:srgbClr val="4CC8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CC8C3"/>
                </a:solidFill>
              </a:rPr>
              <a:t>THE INSIGHT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</a:rPr>
              <a:t>Mail makes encouragement feel real.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286000"/>
            <a:ext cx="4572000" cy="45720"/>
          </a:xfrm>
          <a:prstGeom prst="rect">
            <a:avLst/>
          </a:prstGeom>
          <a:solidFill>
            <a:srgbClr val="4CC8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468880"/>
            <a:ext cx="6858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A0E1DF"/>
                </a:solidFill>
              </a:rPr>
              <a:t>The community keeps kids creating.
The mail makes the recognition tangible.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474720"/>
            <a:ext cx="5212080" cy="2560320"/>
          </a:xfrm>
          <a:prstGeom prst="roundRect">
            <a:avLst>
              <a:gd name="adj" fmla="val 8000"/>
            </a:avLst>
          </a:prstGeom>
          <a:solidFill>
            <a:srgbClr val="288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611880"/>
            <a:ext cx="914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 i="0">
                <a:solidFill>
                  <a:srgbClr val="FFFFFF"/>
                </a:solidFill>
              </a:rPr>
              <a:t>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370332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Digital Community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4160520"/>
            <a:ext cx="3931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8F4F3"/>
                </a:solidFill>
              </a:rPr>
              <a:t>Safe space to share art,
get reactions, join challenges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0" y="3474720"/>
            <a:ext cx="5212080" cy="2560320"/>
          </a:xfrm>
          <a:prstGeom prst="roundRect">
            <a:avLst>
              <a:gd name="adj" fmla="val 8000"/>
            </a:avLst>
          </a:prstGeom>
          <a:solidFill>
            <a:srgbClr val="288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3611880"/>
            <a:ext cx="914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 i="0">
                <a:solidFill>
                  <a:srgbClr val="FFFFFF"/>
                </a:solidFill>
              </a:rPr>
              <a:t>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86600" y="370332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Physical Mail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86600" y="4160520"/>
            <a:ext cx="3931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8F4F3"/>
                </a:solidFill>
              </a:rPr>
              <a:t>Real postcards &amp; keepsakes
delivered to their door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438912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4CC8C3"/>
                </a:solidFill>
              </a:rPr>
              <a:t>+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5760720"/>
            <a:ext cx="10698480" cy="749808"/>
          </a:xfrm>
          <a:prstGeom prst="roundRect">
            <a:avLst>
              <a:gd name="adj" fmla="val 8000"/>
            </a:avLst>
          </a:prstGeom>
          <a:solidFill>
            <a:srgbClr val="4CC8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5833872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D2C2C"/>
                </a:solidFill>
              </a:rPr>
              <a:t>= A safe creator community powered by real mail that keeps kids creating.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640312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AAA8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C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"/>
            <a:ext cx="12188952" cy="54864"/>
          </a:xfrm>
          <a:prstGeom prst="rect">
            <a:avLst/>
          </a:prstGeom>
          <a:solidFill>
            <a:srgbClr val="4CC8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CC8C3"/>
                </a:solidFill>
              </a:rPr>
              <a:t>MARKET PROOF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The mail revival is already happening.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36192"/>
            <a:ext cx="5029200" cy="45720"/>
          </a:xfrm>
          <a:prstGeom prst="rect">
            <a:avLst/>
          </a:prstGeom>
          <a:solidFill>
            <a:srgbClr val="4CC8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664208"/>
            <a:ext cx="3657600" cy="1078992"/>
          </a:xfrm>
          <a:prstGeom prst="roundRect">
            <a:avLst>
              <a:gd name="adj" fmla="val 8000"/>
            </a:avLst>
          </a:prstGeom>
          <a:solidFill>
            <a:srgbClr val="288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1737360"/>
            <a:ext cx="14630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4CC8C3"/>
                </a:solidFill>
              </a:rPr>
              <a:t>150K+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48840" y="1792224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F4F3"/>
                </a:solidFill>
              </a:rPr>
              <a:t>TikTok posts
tagged #snailmail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664208"/>
            <a:ext cx="3657600" cy="1078992"/>
          </a:xfrm>
          <a:prstGeom prst="roundRect">
            <a:avLst>
              <a:gd name="adj" fmla="val 8000"/>
            </a:avLst>
          </a:prstGeom>
          <a:solidFill>
            <a:srgbClr val="288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07992" y="1737360"/>
            <a:ext cx="14630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4CC8C3"/>
                </a:solidFill>
              </a:rPr>
              <a:t>63%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1792224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F4F3"/>
                </a:solidFill>
              </a:rPr>
              <a:t>of Gen Z actively
disconnecting digitally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664208"/>
            <a:ext cx="3657600" cy="1078992"/>
          </a:xfrm>
          <a:prstGeom prst="roundRect">
            <a:avLst>
              <a:gd name="adj" fmla="val 8000"/>
            </a:avLst>
          </a:prstGeom>
          <a:solidFill>
            <a:srgbClr val="288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94192" y="1737360"/>
            <a:ext cx="14630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4CC8C3"/>
                </a:solidFill>
              </a:rPr>
              <a:t>$45K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21240" y="1792224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F4F3"/>
                </a:solidFill>
              </a:rPr>
              <a:t>revenue/mo — one
snail mail club, zero paid ads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926080"/>
            <a:ext cx="3749039" cy="1417320"/>
          </a:xfrm>
          <a:prstGeom prst="roundRect">
            <a:avLst>
              <a:gd name="adj" fmla="val 8000"/>
            </a:avLst>
          </a:prstGeom>
          <a:solidFill>
            <a:srgbClr val="10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2926080"/>
            <a:ext cx="45720" cy="1417320"/>
          </a:xfrm>
          <a:prstGeom prst="rect">
            <a:avLst/>
          </a:prstGeom>
          <a:solidFill>
            <a:srgbClr val="4CC8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3017520"/>
            <a:ext cx="594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</a:rPr>
              <a:t>✉️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2999232"/>
            <a:ext cx="13258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4CC8C3"/>
                </a:solidFill>
              </a:rPr>
              <a:t>5,000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349300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E1DF"/>
                </a:solidFill>
              </a:rPr>
              <a:t>paying subscribers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06040" y="2999232"/>
            <a:ext cx="1508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The Tiny Post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06040" y="3364992"/>
            <a:ext cx="1508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AAA8"/>
                </a:solidFill>
              </a:rPr>
              <a:t>$45K/mo · zero paid ads
Gen Z creator, Austin TX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70831" y="2926080"/>
            <a:ext cx="3749039" cy="1417320"/>
          </a:xfrm>
          <a:prstGeom prst="roundRect">
            <a:avLst>
              <a:gd name="adj" fmla="val 8000"/>
            </a:avLst>
          </a:prstGeom>
          <a:solidFill>
            <a:srgbClr val="10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70831" y="2926080"/>
            <a:ext cx="45720" cy="1417320"/>
          </a:xfrm>
          <a:prstGeom prst="rect">
            <a:avLst/>
          </a:prstGeom>
          <a:solidFill>
            <a:srgbClr val="4CC8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80559" y="3017520"/>
            <a:ext cx="594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</a:rPr>
              <a:t>📮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48071" y="2999232"/>
            <a:ext cx="13258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4CC8C3"/>
                </a:solidFill>
              </a:rPr>
              <a:t>806K+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48071" y="349300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E1DF"/>
                </a:solidFill>
              </a:rPr>
              <a:t>members worldwide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19671" y="2999232"/>
            <a:ext cx="1508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Postcrossing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19671" y="3364992"/>
            <a:ext cx="1508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AAA8"/>
                </a:solidFill>
              </a:rPr>
              <a:t>87M+ postcards exchanged
worldwide since 2005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84462" y="2926080"/>
            <a:ext cx="3749039" cy="1417320"/>
          </a:xfrm>
          <a:prstGeom prst="roundRect">
            <a:avLst>
              <a:gd name="adj" fmla="val 8000"/>
            </a:avLst>
          </a:prstGeom>
          <a:solidFill>
            <a:srgbClr val="10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284462" y="2926080"/>
            <a:ext cx="45720" cy="1417320"/>
          </a:xfrm>
          <a:prstGeom prst="rect">
            <a:avLst/>
          </a:prstGeom>
          <a:solidFill>
            <a:srgbClr val="4CC8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94190" y="3017520"/>
            <a:ext cx="594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</a:rPr>
              <a:t>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61702" y="2999232"/>
            <a:ext cx="13258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4CC8C3"/>
                </a:solidFill>
              </a:rPr>
              <a:t>1M+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61702" y="349300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E1DF"/>
                </a:solidFill>
              </a:rPr>
              <a:t>letters delivered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433302" y="2999232"/>
            <a:ext cx="1508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Letters Against Isolation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433302" y="3364992"/>
            <a:ext cx="1508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AAA8"/>
                </a:solidFill>
              </a:rPr>
              <a:t>Launched during COVID
complete strangers writing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4471416"/>
            <a:ext cx="3749039" cy="1417320"/>
          </a:xfrm>
          <a:prstGeom prst="roundRect">
            <a:avLst>
              <a:gd name="adj" fmla="val 8000"/>
            </a:avLst>
          </a:prstGeom>
          <a:solidFill>
            <a:srgbClr val="10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57200" y="4471416"/>
            <a:ext cx="45720" cy="1417320"/>
          </a:xfrm>
          <a:prstGeom prst="rect">
            <a:avLst/>
          </a:prstGeom>
          <a:solidFill>
            <a:srgbClr val="288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66928" y="4562856"/>
            <a:ext cx="594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</a:rPr>
              <a:t>🤝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34440" y="4544568"/>
            <a:ext cx="13258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4CC8C3"/>
                </a:solidFill>
              </a:rPr>
              <a:t>1M+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34440" y="5038344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E1DF"/>
                </a:solidFill>
              </a:rPr>
              <a:t>letters sent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606040" y="4544568"/>
            <a:ext cx="1508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Love For Our Elders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606040" y="4910328"/>
            <a:ext cx="1508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AAA8"/>
                </a:solidFill>
              </a:rPr>
              <a:t>100+ chapters · 70+
mailboxes globally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370831" y="4471416"/>
            <a:ext cx="3749039" cy="1417320"/>
          </a:xfrm>
          <a:prstGeom prst="roundRect">
            <a:avLst>
              <a:gd name="adj" fmla="val 8000"/>
            </a:avLst>
          </a:prstGeom>
          <a:solidFill>
            <a:srgbClr val="10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370831" y="4471416"/>
            <a:ext cx="45720" cy="1417320"/>
          </a:xfrm>
          <a:prstGeom prst="rect">
            <a:avLst/>
          </a:prstGeom>
          <a:solidFill>
            <a:srgbClr val="288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480559" y="4562856"/>
            <a:ext cx="594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</a:rPr>
              <a:t>🌍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148071" y="4544568"/>
            <a:ext cx="13258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4CC8C3"/>
                </a:solidFill>
              </a:rPr>
              <a:t>All 50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48071" y="5038344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E1DF"/>
                </a:solidFill>
              </a:rPr>
              <a:t>states + 70+ countries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19671" y="4544568"/>
            <a:ext cx="1508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More Love Letters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19671" y="4910328"/>
            <a:ext cx="1508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AAA8"/>
                </a:solidFill>
              </a:rPr>
              <a:t>Active in every US state
encouragement at scale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284462" y="4471416"/>
            <a:ext cx="3749039" cy="1417320"/>
          </a:xfrm>
          <a:prstGeom prst="roundRect">
            <a:avLst>
              <a:gd name="adj" fmla="val 8000"/>
            </a:avLst>
          </a:prstGeom>
          <a:solidFill>
            <a:srgbClr val="10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284462" y="4471416"/>
            <a:ext cx="45720" cy="1417320"/>
          </a:xfrm>
          <a:prstGeom prst="rect">
            <a:avLst/>
          </a:prstGeom>
          <a:solidFill>
            <a:srgbClr val="288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394190" y="4562856"/>
            <a:ext cx="594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</a:rPr>
              <a:t>📖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061702" y="4544568"/>
            <a:ext cx="13258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4CC8C3"/>
                </a:solidFill>
              </a:rPr>
              <a:t>1,600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061702" y="5038344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E1DF"/>
                </a:solidFill>
              </a:rPr>
              <a:t>members in weeks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433302" y="4544568"/>
            <a:ext cx="1508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Analog Life Snail Society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433302" y="4910328"/>
            <a:ext cx="1508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AAA8"/>
                </a:solidFill>
              </a:rPr>
              <a:t>Grew from 25 to 1,600
members in one month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7200" y="6492240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A0E1DF"/>
                </a:solidFill>
              </a:rPr>
              <a:t>✦  Real mail isn't nostalgic — it's powerful. Kids just haven't had it built for them.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640312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AAA8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C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"/>
            <a:ext cx="12188952" cy="54864"/>
          </a:xfrm>
          <a:prstGeom prst="rect">
            <a:avLst/>
          </a:prstGeom>
          <a:solidFill>
            <a:srgbClr val="4CC8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CC8C3"/>
                </a:solidFill>
              </a:rPr>
              <a:t>THE PRODUCT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Five steps. One flywheel.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286000"/>
            <a:ext cx="1920240" cy="2743200"/>
          </a:xfrm>
          <a:prstGeom prst="roundRect">
            <a:avLst>
              <a:gd name="adj" fmla="val 8000"/>
            </a:avLst>
          </a:prstGeom>
          <a:solidFill>
            <a:srgbClr val="288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48640" y="2350008"/>
            <a:ext cx="512064" cy="512064"/>
          </a:xfrm>
          <a:prstGeom prst="ellipse">
            <a:avLst/>
          </a:prstGeom>
          <a:solidFill>
            <a:srgbClr val="0D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350008"/>
            <a:ext cx="512064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377440"/>
            <a:ext cx="914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FFFFFF"/>
                </a:solidFill>
              </a:rPr>
              <a:t>🖍️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246120"/>
            <a:ext cx="1737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CREATE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94760"/>
            <a:ext cx="1737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0E1DF"/>
                </a:solidFill>
              </a:rPr>
              <a:t>Kid makes art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3383280"/>
            <a:ext cx="3383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4CC8C3"/>
                </a:solidFill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61488" y="2286000"/>
            <a:ext cx="1920240" cy="2743200"/>
          </a:xfrm>
          <a:prstGeom prst="roundRect">
            <a:avLst>
              <a:gd name="adj" fmla="val 8000"/>
            </a:avLst>
          </a:prstGeom>
          <a:solidFill>
            <a:srgbClr val="288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852928" y="2350008"/>
            <a:ext cx="512064" cy="512064"/>
          </a:xfrm>
          <a:prstGeom prst="ellipse">
            <a:avLst/>
          </a:prstGeom>
          <a:solidFill>
            <a:srgbClr val="0D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52928" y="2350008"/>
            <a:ext cx="512064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64408" y="2377440"/>
            <a:ext cx="914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FFFFFF"/>
                </a:solidFill>
              </a:rPr>
              <a:t>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52928" y="3246120"/>
            <a:ext cx="1737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UPLOAD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52928" y="3794760"/>
            <a:ext cx="1737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0E1DF"/>
                </a:solidFill>
              </a:rPr>
              <a:t>Photo to app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73168" y="3383280"/>
            <a:ext cx="3383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4CC8C3"/>
                </a:solidFill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65776" y="2286000"/>
            <a:ext cx="1920240" cy="2743200"/>
          </a:xfrm>
          <a:prstGeom prst="roundRect">
            <a:avLst>
              <a:gd name="adj" fmla="val 8000"/>
            </a:avLst>
          </a:prstGeom>
          <a:solidFill>
            <a:srgbClr val="288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157216" y="2350008"/>
            <a:ext cx="512064" cy="512064"/>
          </a:xfrm>
          <a:prstGeom prst="ellipse">
            <a:avLst/>
          </a:prstGeom>
          <a:solidFill>
            <a:srgbClr val="0D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57216" y="2350008"/>
            <a:ext cx="512064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68696" y="2377440"/>
            <a:ext cx="914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FFFFFF"/>
                </a:solidFill>
              </a:rPr>
              <a:t>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57216" y="3246120"/>
            <a:ext cx="1737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ENCOURAGED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57216" y="3794760"/>
            <a:ext cx="1737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0E1DF"/>
                </a:solidFill>
              </a:rPr>
              <a:t>Reactions + AI
feedback + peers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77456" y="3383280"/>
            <a:ext cx="3383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4CC8C3"/>
                </a:solidFill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70064" y="2286000"/>
            <a:ext cx="1920240" cy="2743200"/>
          </a:xfrm>
          <a:prstGeom prst="roundRect">
            <a:avLst>
              <a:gd name="adj" fmla="val 8000"/>
            </a:avLst>
          </a:prstGeom>
          <a:solidFill>
            <a:srgbClr val="288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461504" y="2350008"/>
            <a:ext cx="512064" cy="512064"/>
          </a:xfrm>
          <a:prstGeom prst="ellipse">
            <a:avLst/>
          </a:prstGeom>
          <a:solidFill>
            <a:srgbClr val="0D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61504" y="2350008"/>
            <a:ext cx="512064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72984" y="2377440"/>
            <a:ext cx="914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FFFFFF"/>
                </a:solidFill>
              </a:rPr>
              <a:t>📬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61504" y="3246120"/>
            <a:ext cx="1737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MAILED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61504" y="3794760"/>
            <a:ext cx="1737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0E1DF"/>
                </a:solidFill>
              </a:rPr>
              <a:t>Real postcard
arrives at home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81744" y="3383280"/>
            <a:ext cx="3383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4CC8C3"/>
                </a:solidFill>
              </a:rPr>
              <a:t>→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674352" y="2286000"/>
            <a:ext cx="1920240" cy="2743200"/>
          </a:xfrm>
          <a:prstGeom prst="roundRect">
            <a:avLst>
              <a:gd name="adj" fmla="val 8000"/>
            </a:avLst>
          </a:prstGeom>
          <a:solidFill>
            <a:srgbClr val="4CC8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765792" y="2350008"/>
            <a:ext cx="512064" cy="512064"/>
          </a:xfrm>
          <a:prstGeom prst="ellipse">
            <a:avLst/>
          </a:prstGeom>
          <a:solidFill>
            <a:srgbClr val="0D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765792" y="2350008"/>
            <a:ext cx="512064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77272" y="2377440"/>
            <a:ext cx="914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FFFFFF"/>
                </a:solidFill>
              </a:rPr>
              <a:t>🎨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65792" y="3246120"/>
            <a:ext cx="1737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CREATE
AGAIN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65792" y="3794760"/>
            <a:ext cx="1737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0E1DF"/>
                </a:solidFill>
              </a:rPr>
              <a:t>Cycle repeats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53949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4CC8C3"/>
                </a:solidFill>
              </a:rPr>
              <a:t>↩  The loop is the product. Mail closes it.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640312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AAA8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C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"/>
            <a:ext cx="12188952" cy="54864"/>
          </a:xfrm>
          <a:prstGeom prst="rect">
            <a:avLst/>
          </a:prstGeom>
          <a:solidFill>
            <a:srgbClr val="4CC8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0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CC8C3"/>
                </a:solidFill>
              </a:rPr>
              <a:t>EXPERIENCE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4114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</a:rPr>
              <a:t>What the
Kid Sees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5176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88336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F4F3"/>
                </a:solidFill>
              </a:rPr>
              <a:t>Their art gallery — front and center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364991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401567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F4F3"/>
                </a:solidFill>
              </a:rPr>
              <a:t>Stars, hearts, and encouraging reactions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078224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11480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F4F3"/>
                </a:solidFill>
              </a:rPr>
              <a:t>Monthly challenge prompts to create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791456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828032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F4F3"/>
                </a:solidFill>
              </a:rPr>
              <a:t>Milestone badges and creator level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504688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5541264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F4F3"/>
                </a:solidFill>
              </a:rPr>
              <a:t>Mail tracker — "Your postcard was mailed!"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0" y="731520"/>
            <a:ext cx="2743200" cy="5303520"/>
          </a:xfrm>
          <a:prstGeom prst="roundRect">
            <a:avLst>
              <a:gd name="adj" fmla="val 8000"/>
            </a:avLst>
          </a:prstGeom>
          <a:solidFill>
            <a:srgbClr val="1A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669280" y="731520"/>
            <a:ext cx="2743200" cy="5303520"/>
          </a:xfrm>
          <a:prstGeom prst="rect">
            <a:avLst/>
          </a:prstGeom>
          <a:solidFill>
            <a:srgbClr val="1A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897880" y="1005840"/>
            <a:ext cx="2286000" cy="4572000"/>
          </a:xfrm>
          <a:prstGeom prst="rect">
            <a:avLst/>
          </a:prstGeom>
          <a:solidFill>
            <a:srgbClr val="0F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675120" y="868680"/>
            <a:ext cx="731520" cy="182880"/>
          </a:xfrm>
          <a:prstGeom prst="roundRect">
            <a:avLst>
              <a:gd name="adj" fmla="val 8000"/>
            </a:avLst>
          </a:prstGeom>
          <a:solidFill>
            <a:srgbClr val="0D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858000" y="6035040"/>
            <a:ext cx="365760" cy="365760"/>
          </a:xfrm>
          <a:prstGeom prst="ellipse">
            <a:avLst/>
          </a:prstGeom>
          <a:solidFill>
            <a:srgbClr val="286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89320" y="114300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🎨  My Art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89320" y="1508760"/>
            <a:ext cx="2103120" cy="36576"/>
          </a:xfrm>
          <a:prstGeom prst="rect">
            <a:avLst/>
          </a:prstGeom>
          <a:solidFill>
            <a:srgbClr val="288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989320" y="1600200"/>
            <a:ext cx="1005840" cy="868680"/>
          </a:xfrm>
          <a:prstGeom prst="roundRect">
            <a:avLst>
              <a:gd name="adj" fmla="val 8000"/>
            </a:avLst>
          </a:prstGeom>
          <a:solidFill>
            <a:srgbClr val="1E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80760" y="1664208"/>
            <a:ext cx="822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🌈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086600" y="1600200"/>
            <a:ext cx="1005840" cy="868680"/>
          </a:xfrm>
          <a:prstGeom prst="roundRect">
            <a:avLst>
              <a:gd name="adj" fmla="val 8000"/>
            </a:avLst>
          </a:prstGeom>
          <a:solidFill>
            <a:srgbClr val="1E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78040" y="1664208"/>
            <a:ext cx="822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🐶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89320" y="2560320"/>
            <a:ext cx="1005840" cy="868680"/>
          </a:xfrm>
          <a:prstGeom prst="roundRect">
            <a:avLst>
              <a:gd name="adj" fmla="val 8000"/>
            </a:avLst>
          </a:prstGeom>
          <a:solidFill>
            <a:srgbClr val="1E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80760" y="2624328"/>
            <a:ext cx="822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🚀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086600" y="2560320"/>
            <a:ext cx="1005840" cy="868680"/>
          </a:xfrm>
          <a:prstGeom prst="roundRect">
            <a:avLst>
              <a:gd name="adj" fmla="val 8000"/>
            </a:avLst>
          </a:prstGeom>
          <a:solidFill>
            <a:srgbClr val="1E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78040" y="2624328"/>
            <a:ext cx="822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89320" y="356616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E1DF"/>
                </a:solidFill>
              </a:rPr>
              <a:t>⭐ 12   ❤️ 8   🎉 5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89320" y="3977639"/>
            <a:ext cx="2103120" cy="594360"/>
          </a:xfrm>
          <a:prstGeom prst="roundRect">
            <a:avLst>
              <a:gd name="adj" fmla="val 8000"/>
            </a:avLst>
          </a:prstGeom>
          <a:solidFill>
            <a:srgbClr val="288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80760" y="406908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📬  Postcard in transit!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0" y="182880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A0E1DF"/>
                </a:solidFill>
              </a:rPr>
              <a:t>No open feeds.
No follower counts.
Just their own creative world.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640312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AAA8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C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"/>
            <a:ext cx="12188952" cy="54864"/>
          </a:xfrm>
          <a:prstGeom prst="rect">
            <a:avLst/>
          </a:prstGeom>
          <a:solidFill>
            <a:srgbClr val="4CC8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0" y="0"/>
            <a:ext cx="5056632" cy="6858000"/>
          </a:xfrm>
          <a:prstGeom prst="rect">
            <a:avLst/>
          </a:prstGeom>
          <a:solidFill>
            <a:srgbClr val="0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CC8C3"/>
                </a:solidFill>
              </a:rPr>
              <a:t>EXPERIENCE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6400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</a:rPr>
              <a:t>What the
Parent Sees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779776"/>
            <a:ext cx="5760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8F4F3"/>
                </a:solidFill>
              </a:rPr>
              <a:t>Full approval control — nothing ships without parent 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4290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👁️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465576"/>
            <a:ext cx="5760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8F4F3"/>
                </a:solidFill>
              </a:rPr>
              <a:t>Private child profiles, no strangers can search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1148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151376"/>
            <a:ext cx="5760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8F4F3"/>
                </a:solidFill>
              </a:rPr>
              <a:t>Moderated reactions only — no open DMs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8006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837176"/>
            <a:ext cx="5760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8F4F3"/>
                </a:solidFill>
              </a:rPr>
              <a:t>Printed keepsake books — optional add-on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4864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5522976"/>
            <a:ext cx="5760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8F4F3"/>
                </a:solidFill>
              </a:rPr>
              <a:t>Creativity streak tracker and milestone alerts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06640" y="914400"/>
            <a:ext cx="4297680" cy="3108960"/>
          </a:xfrm>
          <a:prstGeom prst="rect">
            <a:avLst/>
          </a:prstGeom>
          <a:solidFill>
            <a:srgbClr val="1A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543800" y="1051560"/>
            <a:ext cx="4023360" cy="2788920"/>
          </a:xfrm>
          <a:prstGeom prst="rect">
            <a:avLst/>
          </a:prstGeom>
          <a:solidFill>
            <a:srgbClr val="0F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132320" y="4023360"/>
            <a:ext cx="5056632" cy="201168"/>
          </a:xfrm>
          <a:prstGeom prst="rect">
            <a:avLst/>
          </a:prstGeom>
          <a:solidFill>
            <a:srgbClr val="286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35240" y="114300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Parent Dashboard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35240" y="1463040"/>
            <a:ext cx="3840480" cy="27432"/>
          </a:xfrm>
          <a:prstGeom prst="rect">
            <a:avLst/>
          </a:prstGeom>
          <a:solidFill>
            <a:srgbClr val="288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635240" y="1554480"/>
            <a:ext cx="1188720" cy="594360"/>
          </a:xfrm>
          <a:prstGeom prst="roundRect">
            <a:avLst>
              <a:gd name="adj" fmla="val 8000"/>
            </a:avLst>
          </a:prstGeom>
          <a:solidFill>
            <a:srgbClr val="1E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08392" y="160020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CC8C3"/>
                </a:solidFill>
              </a:rPr>
              <a:t>12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08392" y="1856231"/>
            <a:ext cx="1051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AAA8"/>
                </a:solidFill>
              </a:rPr>
              <a:t>artworks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61119" y="1554480"/>
            <a:ext cx="1188720" cy="594360"/>
          </a:xfrm>
          <a:prstGeom prst="roundRect">
            <a:avLst>
              <a:gd name="adj" fmla="val 8000"/>
            </a:avLst>
          </a:prstGeom>
          <a:solidFill>
            <a:srgbClr val="1E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34271" y="160020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CC8C3"/>
                </a:solidFill>
              </a:rPr>
              <a:t>🏅 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34271" y="1856231"/>
            <a:ext cx="1051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AAA8"/>
                </a:solidFill>
              </a:rPr>
              <a:t>badges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287000" y="1554480"/>
            <a:ext cx="1188720" cy="594360"/>
          </a:xfrm>
          <a:prstGeom prst="roundRect">
            <a:avLst>
              <a:gd name="adj" fmla="val 8000"/>
            </a:avLst>
          </a:prstGeom>
          <a:solidFill>
            <a:srgbClr val="1E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360152" y="160020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CC8C3"/>
                </a:solidFill>
              </a:rPr>
              <a:t>📬 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60152" y="1856231"/>
            <a:ext cx="1051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AAA8"/>
                </a:solidFill>
              </a:rPr>
              <a:t>mailed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635240" y="2286000"/>
            <a:ext cx="3840480" cy="685800"/>
          </a:xfrm>
          <a:prstGeom prst="roundRect">
            <a:avLst>
              <a:gd name="adj" fmla="val 8000"/>
            </a:avLst>
          </a:prstGeom>
          <a:solidFill>
            <a:srgbClr val="2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26679" y="235000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7D060"/>
                </a:solidFill>
              </a:rPr>
              <a:t>⏳  Pending approval: 1 artwork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92640" y="239572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CC8C3"/>
                </a:solidFill>
              </a:rPr>
              <a:t>Approve  |  Decline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635240" y="3063240"/>
            <a:ext cx="3840480" cy="594360"/>
          </a:xfrm>
          <a:prstGeom prst="roundRect">
            <a:avLst>
              <a:gd name="adj" fmla="val 8000"/>
            </a:avLst>
          </a:prstGeom>
          <a:solidFill>
            <a:srgbClr val="288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26679" y="3127248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📦  Order keepsake book — $19.99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06640" y="502920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4CC8C3"/>
                </a:solidFill>
              </a:rPr>
              <a:t>Parents are in control — always.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640312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AAA8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C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"/>
            <a:ext cx="12188952" cy="54864"/>
          </a:xfrm>
          <a:prstGeom prst="rect">
            <a:avLst/>
          </a:prstGeom>
          <a:solidFill>
            <a:srgbClr val="4CC8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CC8C3"/>
                </a:solidFill>
              </a:rPr>
              <a:t>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</a:rPr>
              <a:t>What Grandparents See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737360"/>
            <a:ext cx="4114800" cy="45720"/>
          </a:xfrm>
          <a:prstGeom prst="rect">
            <a:avLst/>
          </a:prstGeom>
          <a:solidFill>
            <a:srgbClr val="4CC8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874519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1">
                <a:solidFill>
                  <a:srgbClr val="A0E1DF"/>
                </a:solidFill>
              </a:rPr>
              <a:t>No app required. No account.
Just joy in the mailbox.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017520"/>
            <a:ext cx="2560320" cy="2286000"/>
          </a:xfrm>
          <a:prstGeom prst="roundRect">
            <a:avLst>
              <a:gd name="adj" fmla="val 8000"/>
            </a:avLst>
          </a:prstGeom>
          <a:solidFill>
            <a:srgbClr val="12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3154680"/>
            <a:ext cx="822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0" i="0">
                <a:solidFill>
                  <a:srgbClr val="FFFFFF"/>
                </a:solidFill>
              </a:rPr>
              <a:t>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3218688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Postcard arrives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840480"/>
            <a:ext cx="2331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0E1DF"/>
                </a:solidFill>
              </a:rPr>
              <a:t>Real mail with
kid's original art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40" y="3017520"/>
            <a:ext cx="2560320" cy="2286000"/>
          </a:xfrm>
          <a:prstGeom prst="roundRect">
            <a:avLst>
              <a:gd name="adj" fmla="val 8000"/>
            </a:avLst>
          </a:prstGeom>
          <a:solidFill>
            <a:srgbClr val="12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0" y="3154680"/>
            <a:ext cx="822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0" i="0">
                <a:solidFill>
                  <a:srgbClr val="FFFFFF"/>
                </a:solidFill>
              </a:rPr>
              <a:t>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60" y="3218688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QR code inside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3840480"/>
            <a:ext cx="2331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0E1DF"/>
                </a:solidFill>
              </a:rPr>
              <a:t>Scan to see the
online gallery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3017520"/>
            <a:ext cx="2560320" cy="2286000"/>
          </a:xfrm>
          <a:prstGeom prst="roundRect">
            <a:avLst>
              <a:gd name="adj" fmla="val 8000"/>
            </a:avLst>
          </a:prstGeom>
          <a:solidFill>
            <a:srgbClr val="12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3154680"/>
            <a:ext cx="822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0" i="0">
                <a:solidFill>
                  <a:srgbClr val="FFFFFF"/>
                </a:solidFill>
              </a:rPr>
              <a:t>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86600" y="3218688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Keepsake book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3840480"/>
            <a:ext cx="2331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0E1DF"/>
                </a:solidFill>
              </a:rPr>
              <a:t>Optional printed
book of all artwork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61120" y="3017520"/>
            <a:ext cx="2560320" cy="2286000"/>
          </a:xfrm>
          <a:prstGeom prst="roundRect">
            <a:avLst>
              <a:gd name="adj" fmla="val 8000"/>
            </a:avLst>
          </a:prstGeom>
          <a:solidFill>
            <a:srgbClr val="12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0" y="3154680"/>
            <a:ext cx="822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0" i="0">
                <a:solidFill>
                  <a:srgbClr val="FFFFFF"/>
                </a:solidFill>
              </a:rPr>
              <a:t>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21240" y="3218688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Reaction card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3840480"/>
            <a:ext cx="2331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0E1DF"/>
                </a:solidFill>
              </a:rPr>
              <a:t>Pre-stamped note
back to the kid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669280"/>
            <a:ext cx="54864" cy="822960"/>
          </a:xfrm>
          <a:prstGeom prst="rect">
            <a:avLst/>
          </a:prstGeom>
          <a:solidFill>
            <a:srgbClr val="4CC8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5687568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E8F4F3"/>
                </a:solidFill>
              </a:rPr>
              <a:t>"Grandparents don't need an account.
They just get a letter from their grandkid."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2286000"/>
            <a:ext cx="21031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600" b="0" i="0">
                <a:solidFill>
                  <a:srgbClr val="FFFFFF"/>
                </a:solidFill>
              </a:rPr>
              <a:t>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0" y="438912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8AAA8"/>
                </a:solidFill>
              </a:rPr>
              <a:t>The best gift a grandparent
can receive — made by the kid.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640312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AAA8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C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"/>
            <a:ext cx="12188952" cy="54864"/>
          </a:xfrm>
          <a:prstGeom prst="rect">
            <a:avLst/>
          </a:prstGeom>
          <a:solidFill>
            <a:srgbClr val="4CC8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CC8C3"/>
                </a:solidFill>
              </a:rPr>
              <a:t>PRICING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Simple. Predictable. Family-Friendly.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737360"/>
            <a:ext cx="3566160" cy="5029200"/>
          </a:xfrm>
          <a:prstGeom prst="roundRect">
            <a:avLst>
              <a:gd name="adj" fmla="val 8000"/>
            </a:avLst>
          </a:prstGeom>
          <a:solidFill>
            <a:srgbClr val="10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3566160" cy="54864"/>
          </a:xfrm>
          <a:prstGeom prst="rect">
            <a:avLst/>
          </a:prstGeom>
          <a:solidFill>
            <a:srgbClr val="288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874519"/>
            <a:ext cx="1371600" cy="320040"/>
          </a:xfrm>
          <a:prstGeom prst="roundRect">
            <a:avLst>
              <a:gd name="adj" fmla="val 8000"/>
            </a:avLst>
          </a:prstGeom>
          <a:solidFill>
            <a:srgbClr val="288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90195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2C2C"/>
                </a:solidFill>
              </a:rPr>
              <a:t>Starter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2860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8807D"/>
                </a:solidFill>
              </a:rPr>
              <a:t>FREE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697480"/>
            <a:ext cx="320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</a:rPr>
              <a:t>$0/mo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3375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AAA8"/>
                </a:solidFill>
              </a:rPr>
              <a:t>per month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657600"/>
            <a:ext cx="3200400" cy="27432"/>
          </a:xfrm>
          <a:prstGeom prst="rect">
            <a:avLst/>
          </a:prstGeom>
          <a:solidFill>
            <a:srgbClr val="288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49039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F4F3"/>
                </a:solidFill>
              </a:rPr>
              <a:t>✓  Upload up to 3 artworks/mo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187952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F4F3"/>
                </a:solidFill>
              </a:rPr>
              <a:t>✓  Reactions from family only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626864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F4F3"/>
                </a:solidFill>
              </a:rPr>
              <a:t>✓  Monthly challenge prompt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065775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AAA8"/>
                </a:solidFill>
              </a:rPr>
              <a:t>✗  No mail included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0" y="1737360"/>
            <a:ext cx="3566160" cy="5029200"/>
          </a:xfrm>
          <a:prstGeom prst="roundRect">
            <a:avLst>
              <a:gd name="adj" fmla="val 8000"/>
            </a:avLst>
          </a:prstGeom>
          <a:solidFill>
            <a:srgbClr val="10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97680" y="1737360"/>
            <a:ext cx="3566160" cy="54864"/>
          </a:xfrm>
          <a:prstGeom prst="rect">
            <a:avLst/>
          </a:prstGeom>
          <a:solidFill>
            <a:srgbClr val="4CC8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389120" y="1874519"/>
            <a:ext cx="1371600" cy="320040"/>
          </a:xfrm>
          <a:prstGeom prst="roundRect">
            <a:avLst>
              <a:gd name="adj" fmla="val 8000"/>
            </a:avLst>
          </a:prstGeom>
          <a:solidFill>
            <a:srgbClr val="4CC8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34840" y="190195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2C2C"/>
                </a:solidFill>
              </a:rPr>
              <a:t>Most Popular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22860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4CC8C3"/>
                </a:solidFill>
              </a:rPr>
              <a:t>CREATOR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2697480"/>
            <a:ext cx="320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</a:rPr>
              <a:t>$9/mo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33375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AAA8"/>
                </a:solidFill>
              </a:rPr>
              <a:t>per month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80560" y="3657600"/>
            <a:ext cx="3200400" cy="27432"/>
          </a:xfrm>
          <a:prstGeom prst="rect">
            <a:avLst/>
          </a:prstGeom>
          <a:solidFill>
            <a:srgbClr val="288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80560" y="3749039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F4F3"/>
                </a:solidFill>
              </a:rPr>
              <a:t>✓  Unlimited uploads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4187952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F4F3"/>
                </a:solidFill>
              </a:rPr>
              <a:t>✓  1 postcard mailed/month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4626864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F4F3"/>
                </a:solidFill>
              </a:rPr>
              <a:t>✓  AI feedback + peer community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5065775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F4F3"/>
                </a:solidFill>
              </a:rPr>
              <a:t>✓  Milestone badges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38160" y="1737360"/>
            <a:ext cx="3566160" cy="5029200"/>
          </a:xfrm>
          <a:prstGeom prst="roundRect">
            <a:avLst>
              <a:gd name="adj" fmla="val 8000"/>
            </a:avLst>
          </a:prstGeom>
          <a:solidFill>
            <a:srgbClr val="10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38160" y="1737360"/>
            <a:ext cx="3566160" cy="54864"/>
          </a:xfrm>
          <a:prstGeom prst="rect">
            <a:avLst/>
          </a:prstGeom>
          <a:solidFill>
            <a:srgbClr val="288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229600" y="1874519"/>
            <a:ext cx="1371600" cy="320040"/>
          </a:xfrm>
          <a:prstGeom prst="roundRect">
            <a:avLst>
              <a:gd name="adj" fmla="val 8000"/>
            </a:avLst>
          </a:prstGeom>
          <a:solidFill>
            <a:srgbClr val="288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75320" y="190195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2C2C"/>
                </a:solidFill>
              </a:rPr>
              <a:t>Best Value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22860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8807D"/>
                </a:solidFill>
              </a:rPr>
              <a:t>FAMILY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40" y="2697480"/>
            <a:ext cx="320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</a:rPr>
              <a:t>$19/mo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21040" y="33375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AAA8"/>
                </a:solidFill>
              </a:rPr>
              <a:t>per month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321040" y="3657600"/>
            <a:ext cx="3200400" cy="27432"/>
          </a:xfrm>
          <a:prstGeom prst="rect">
            <a:avLst/>
          </a:prstGeom>
          <a:solidFill>
            <a:srgbClr val="288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21040" y="3749039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F4F3"/>
                </a:solidFill>
              </a:rPr>
              <a:t>✓  Up to 3 kids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21040" y="4187952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F4F3"/>
                </a:solidFill>
              </a:rPr>
              <a:t>✓  3 postcards/month total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21040" y="4626864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F4F3"/>
                </a:solidFill>
              </a:rPr>
              <a:t>✓  Grandparent sharing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21040" y="5065775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F4F3"/>
                </a:solidFill>
              </a:rPr>
              <a:t>✓  Annual keepsake book included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6446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CC8C3"/>
                </a:solidFill>
              </a:rPr>
              <a:t>Add-ons: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920240" y="6446520"/>
            <a:ext cx="9784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AAA8"/>
                </a:solidFill>
              </a:rPr>
              <a:t>Extra postcards: $2/ea   |   Keepsake book: $19.99   |   Grandparent bundle: $4.99/mo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640312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AAA8"/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C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"/>
            <a:ext cx="12188952" cy="54864"/>
          </a:xfrm>
          <a:prstGeom prst="rect">
            <a:avLst/>
          </a:prstGeom>
          <a:solidFill>
            <a:srgbClr val="4CC8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CC8C3"/>
                </a:solidFill>
              </a:rPr>
              <a:t>GROWTH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Built-In Growth Loops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5486400" cy="2011680"/>
          </a:xfrm>
          <a:prstGeom prst="roundRect">
            <a:avLst>
              <a:gd name="adj" fmla="val 8000"/>
            </a:avLst>
          </a:prstGeom>
          <a:solidFill>
            <a:srgbClr val="12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2011680"/>
            <a:ext cx="777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0" i="0">
                <a:solidFill>
                  <a:srgbClr val="FFFFFF"/>
                </a:solidFill>
              </a:rPr>
              <a:t>👨‍👩‍👧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057400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CC8C3"/>
                </a:solidFill>
              </a:rPr>
              <a:t>Grandparent Referral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514600"/>
            <a:ext cx="4206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F4F3"/>
                </a:solidFill>
              </a:rPr>
              <a:t>Parent shares kid's art → Grandparent gets postcard → Grandparent asks for more → Parent upgrades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28800"/>
            <a:ext cx="5486400" cy="2011680"/>
          </a:xfrm>
          <a:prstGeom prst="roundRect">
            <a:avLst>
              <a:gd name="adj" fmla="val 8000"/>
            </a:avLst>
          </a:prstGeom>
          <a:solidFill>
            <a:srgbClr val="12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2011680"/>
            <a:ext cx="777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0" i="0">
                <a:solidFill>
                  <a:srgbClr val="FFFFFF"/>
                </a:solidFill>
              </a:rPr>
              <a:t>🏫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0" y="2057400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CC8C3"/>
                </a:solidFill>
              </a:rPr>
              <a:t>School Viral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0" y="2514600"/>
            <a:ext cx="4206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F4F3"/>
                </a:solidFill>
              </a:rPr>
              <a:t>Kid shows postcard at school → Classmate wants one → Parent signs up → New paying family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160520"/>
            <a:ext cx="5486400" cy="2011680"/>
          </a:xfrm>
          <a:prstGeom prst="roundRect">
            <a:avLst>
              <a:gd name="adj" fmla="val 8000"/>
            </a:avLst>
          </a:prstGeom>
          <a:solidFill>
            <a:srgbClr val="12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4343400"/>
            <a:ext cx="777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0" i="0">
                <a:solidFill>
                  <a:srgbClr val="FFFFFF"/>
                </a:solidFill>
              </a:rPr>
              <a:t>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4389120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CC8C3"/>
                </a:solidFill>
              </a:rPr>
              <a:t>Creator Challenge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4846320"/>
            <a:ext cx="4206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F4F3"/>
                </a:solidFill>
              </a:rPr>
              <a:t>Monthly themes drive uploads → Leaderboards create friendly competition → Low churn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4160520"/>
            <a:ext cx="5486400" cy="2011680"/>
          </a:xfrm>
          <a:prstGeom prst="roundRect">
            <a:avLst>
              <a:gd name="adj" fmla="val 8000"/>
            </a:avLst>
          </a:prstGeom>
          <a:solidFill>
            <a:srgbClr val="12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4343400"/>
            <a:ext cx="777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0" i="0">
                <a:solidFill>
                  <a:srgbClr val="FFFFFF"/>
                </a:solidFill>
              </a:rPr>
              <a:t>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4389120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CC8C3"/>
                </a:solidFill>
              </a:rPr>
              <a:t>Keepsake Upsell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4846320"/>
            <a:ext cx="4206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F4F3"/>
                </a:solidFill>
              </a:rPr>
              <a:t>12 months of art → End-of-year book prompt → $19.99 add-on → High-margin revenue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7395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4CC8C3"/>
                </a:solidFill>
              </a:rPr>
              <a:t>Organic growth is the strategy. Mail is the catalyst.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640312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AAA8"/>
                </a:solidFill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C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"/>
            <a:ext cx="12188952" cy="54864"/>
          </a:xfrm>
          <a:prstGeom prst="rect">
            <a:avLst/>
          </a:prstGeom>
          <a:solidFill>
            <a:srgbClr val="4CC8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CC8C3"/>
                </a:solidFill>
              </a:rPr>
              <a:t>COMPETITIVE MOAT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5943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</a:rPr>
              <a:t>Hard to copy.
Harder to leave.</a:t>
            </a:r>
          </a:p>
        </p:txBody>
      </p:sp>
      <p:sp>
        <p:nvSpPr>
          <p:cNvPr id="5" name="Oval 4"/>
          <p:cNvSpPr/>
          <p:nvPr/>
        </p:nvSpPr>
        <p:spPr>
          <a:xfrm>
            <a:off x="521208" y="2596896"/>
            <a:ext cx="329184" cy="329184"/>
          </a:xfrm>
          <a:prstGeom prst="ellipse">
            <a:avLst/>
          </a:prstGeom>
          <a:solidFill>
            <a:srgbClr val="4CC8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56032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596896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Emotional Lock-In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944368"/>
            <a:ext cx="10149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AAA8"/>
                </a:solidFill>
              </a:rPr>
              <a:t>A child's art history lives here. You don't delete the app that holds your kid's masterpieces.</a:t>
            </a:r>
          </a:p>
        </p:txBody>
      </p:sp>
      <p:sp>
        <p:nvSpPr>
          <p:cNvPr id="9" name="Oval 8"/>
          <p:cNvSpPr/>
          <p:nvPr/>
        </p:nvSpPr>
        <p:spPr>
          <a:xfrm>
            <a:off x="521208" y="3401567"/>
            <a:ext cx="329184" cy="329184"/>
          </a:xfrm>
          <a:prstGeom prst="ellipse">
            <a:avLst/>
          </a:prstGeom>
          <a:solidFill>
            <a:srgbClr val="4CC8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364991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3401567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Physical + Digital Fusion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3749039"/>
            <a:ext cx="10149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AAA8"/>
                </a:solidFill>
              </a:rPr>
              <a:t>No tech-only competitor can replicate real mail. No mail company can replicate the community.</a:t>
            </a:r>
          </a:p>
        </p:txBody>
      </p:sp>
      <p:sp>
        <p:nvSpPr>
          <p:cNvPr id="13" name="Oval 12"/>
          <p:cNvSpPr/>
          <p:nvPr/>
        </p:nvSpPr>
        <p:spPr>
          <a:xfrm>
            <a:off x="521208" y="4206239"/>
            <a:ext cx="329184" cy="329184"/>
          </a:xfrm>
          <a:prstGeom prst="ellipse">
            <a:avLst/>
          </a:prstGeom>
          <a:solidFill>
            <a:srgbClr val="4CC8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4169663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👨‍👩‍👧‍👦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420623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Family Network Effect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4553711"/>
            <a:ext cx="10149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AAA8"/>
                </a:solidFill>
              </a:rPr>
              <a:t>Each family adds grandparents, aunts, uncles. Every connection deepens retention.</a:t>
            </a:r>
          </a:p>
        </p:txBody>
      </p:sp>
      <p:sp>
        <p:nvSpPr>
          <p:cNvPr id="17" name="Oval 16"/>
          <p:cNvSpPr/>
          <p:nvPr/>
        </p:nvSpPr>
        <p:spPr>
          <a:xfrm>
            <a:off x="521208" y="5010912"/>
            <a:ext cx="329184" cy="329184"/>
          </a:xfrm>
          <a:prstGeom prst="ellipse">
            <a:avLst/>
          </a:prstGeom>
          <a:solidFill>
            <a:srgbClr val="4CC8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4974336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🛡️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501091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Trust Infrastructure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5358384"/>
            <a:ext cx="10149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AAA8"/>
                </a:solidFill>
              </a:rPr>
              <a:t>COPPA-compliant from day one. No DMs, moderated content, parent approval. Trust is the product.</a:t>
            </a:r>
          </a:p>
        </p:txBody>
      </p:sp>
      <p:sp>
        <p:nvSpPr>
          <p:cNvPr id="21" name="Oval 20"/>
          <p:cNvSpPr/>
          <p:nvPr/>
        </p:nvSpPr>
        <p:spPr>
          <a:xfrm>
            <a:off x="521208" y="5815584"/>
            <a:ext cx="329184" cy="329184"/>
          </a:xfrm>
          <a:prstGeom prst="ellipse">
            <a:avLst/>
          </a:prstGeom>
          <a:solidFill>
            <a:srgbClr val="4CC8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5779008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📊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5815584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Creative Data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6163056"/>
            <a:ext cx="10149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AAA8"/>
                </a:solidFill>
              </a:rPr>
              <a:t>Proprietary dataset of children's creative development = future personalization no one else has.</a:t>
            </a:r>
          </a:p>
        </p:txBody>
      </p:sp>
      <p:sp>
        <p:nvSpPr>
          <p:cNvPr id="25" name="Oval 24"/>
          <p:cNvSpPr/>
          <p:nvPr/>
        </p:nvSpPr>
        <p:spPr>
          <a:xfrm>
            <a:off x="8321040" y="2011680"/>
            <a:ext cx="3291840" cy="3291840"/>
          </a:xfrm>
          <a:prstGeom prst="ellipse">
            <a:avLst/>
          </a:prstGeom>
          <a:solidFill>
            <a:srgbClr val="288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778240" y="2468880"/>
            <a:ext cx="2377440" cy="2377440"/>
          </a:xfrm>
          <a:prstGeom prst="ellipse">
            <a:avLst/>
          </a:prstGeom>
          <a:solidFill>
            <a:srgbClr val="288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235440" y="2926080"/>
            <a:ext cx="1463040" cy="1463040"/>
          </a:xfrm>
          <a:prstGeom prst="ellipse">
            <a:avLst/>
          </a:prstGeom>
          <a:solidFill>
            <a:srgbClr val="4CC8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601200" y="329184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64040" y="3383280"/>
            <a:ext cx="1005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2C2C"/>
                </a:solidFill>
              </a:rPr>
              <a:t>K3C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640312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AAA8"/>
                </a:solidFill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C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"/>
            <a:ext cx="12188952" cy="54864"/>
          </a:xfrm>
          <a:prstGeom prst="rect">
            <a:avLst/>
          </a:prstGeom>
          <a:solidFill>
            <a:srgbClr val="4CC8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CC8C3"/>
                </a:solidFill>
              </a:rPr>
              <a:t>UNIT ECONOMICS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The numbers work.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4CC8C3"/>
                </a:solidFill>
              </a:rPr>
              <a:t>Creator Plan  —  $9/month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4028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8F4F3"/>
                </a:solidFill>
              </a:rPr>
              <a:t>Postcard printing + postage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224028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E8F4F3"/>
                </a:solidFill>
              </a:rPr>
              <a:t>$1.80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15768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8F4F3"/>
                </a:solidFill>
              </a:rPr>
              <a:t>Platform / infra per user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715768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E8F4F3"/>
                </a:solidFill>
              </a:rPr>
              <a:t>$0.60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191256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8F4F3"/>
                </a:solidFill>
              </a:rPr>
              <a:t>AI moderation cost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3191256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E8F4F3"/>
                </a:solidFill>
              </a:rPr>
              <a:t>$0.25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666744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8F4F3"/>
                </a:solidFill>
              </a:rPr>
              <a:t>Customer support allocation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666744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E8F4F3"/>
                </a:solidFill>
              </a:rPr>
              <a:t>$0.35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096512"/>
            <a:ext cx="5303520" cy="27432"/>
          </a:xfrm>
          <a:prstGeom prst="rect">
            <a:avLst/>
          </a:prstGeom>
          <a:solidFill>
            <a:srgbClr val="288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4142232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CC8C3"/>
                </a:solidFill>
              </a:rPr>
              <a:t>Total COGS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4142232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4CC8C3"/>
                </a:solidFill>
              </a:rPr>
              <a:t>$3.00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754880"/>
            <a:ext cx="5303520" cy="914400"/>
          </a:xfrm>
          <a:prstGeom prst="roundRect">
            <a:avLst>
              <a:gd name="adj" fmla="val 8000"/>
            </a:avLst>
          </a:prstGeom>
          <a:solidFill>
            <a:srgbClr val="288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864608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Gross Margin: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4800600"/>
            <a:ext cx="2103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4CC8C3"/>
                </a:solidFill>
              </a:rPr>
              <a:t>67%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1645920"/>
            <a:ext cx="2468880" cy="1828800"/>
          </a:xfrm>
          <a:prstGeom prst="roundRect">
            <a:avLst>
              <a:gd name="adj" fmla="val 8000"/>
            </a:avLst>
          </a:prstGeom>
          <a:solidFill>
            <a:srgbClr val="12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7960" y="1828800"/>
            <a:ext cx="2194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4CC8C3"/>
                </a:solidFill>
              </a:rPr>
              <a:t>$38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256032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F4F3"/>
                </a:solidFill>
              </a:rPr>
              <a:t>Avg monthly revenue
per family (blended)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0" y="1645920"/>
            <a:ext cx="2468880" cy="1828800"/>
          </a:xfrm>
          <a:prstGeom prst="roundRect">
            <a:avLst>
              <a:gd name="adj" fmla="val 8000"/>
            </a:avLst>
          </a:prstGeom>
          <a:solidFill>
            <a:srgbClr val="12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81160" y="1828800"/>
            <a:ext cx="2194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4CC8C3"/>
                </a:solidFill>
              </a:rPr>
              <a:t>18 mo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81160" y="256032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F4F3"/>
                </a:solidFill>
              </a:rPr>
              <a:t>Target payback period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3931920"/>
            <a:ext cx="2468880" cy="1828800"/>
          </a:xfrm>
          <a:prstGeom prst="roundRect">
            <a:avLst>
              <a:gd name="adj" fmla="val 8000"/>
            </a:avLst>
          </a:prstGeom>
          <a:solidFill>
            <a:srgbClr val="12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37960" y="4114800"/>
            <a:ext cx="2194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4CC8C3"/>
                </a:solidFill>
              </a:rPr>
              <a:t>$680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60" y="484632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F4F3"/>
                </a:solidFill>
              </a:rPr>
              <a:t>LTV estimate
(18-month avg tenure)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44000" y="3931920"/>
            <a:ext cx="2468880" cy="1828800"/>
          </a:xfrm>
          <a:prstGeom prst="roundRect">
            <a:avLst>
              <a:gd name="adj" fmla="val 8000"/>
            </a:avLst>
          </a:prstGeom>
          <a:solidFill>
            <a:srgbClr val="12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281160" y="4114800"/>
            <a:ext cx="2194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4CC8C3"/>
                </a:solidFill>
              </a:rPr>
              <a:t>~$18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81160" y="484632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F4F3"/>
                </a:solidFill>
              </a:rPr>
              <a:t>Blended CAC target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640312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AAA8"/>
                </a:solidFill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C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"/>
            <a:ext cx="12188952" cy="54864"/>
          </a:xfrm>
          <a:prstGeom prst="rect">
            <a:avLst/>
          </a:prstGeom>
          <a:solidFill>
            <a:srgbClr val="4CC8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CC8C3"/>
                </a:solidFill>
              </a:rPr>
              <a:t>RISKS + SAFETY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We've thought about the hard stuff.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47C5C"/>
                </a:solidFill>
              </a:rPr>
              <a:t>Known Risks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322576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47C5C"/>
                </a:solidFill>
              </a:rPr>
              <a:t>Churn risk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88336"/>
            <a:ext cx="4937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F4F3"/>
                </a:solidFill>
              </a:rPr>
              <a:t>Kids age out — mitigated by family plan / sibling continuity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004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236976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47C5C"/>
                </a:solidFill>
              </a:rPr>
              <a:t>Mail ops complexity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602736"/>
            <a:ext cx="4937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F4F3"/>
                </a:solidFill>
              </a:rPr>
              <a:t>Partnering with print-on-demand + USPS bulk rate from day 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1148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⚖️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151376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47C5C"/>
                </a:solidFill>
              </a:rPr>
              <a:t>COPPA compliance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517136"/>
            <a:ext cx="4937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F4F3"/>
                </a:solidFill>
              </a:rPr>
              <a:t>Children's privacy law built into architecture, not bolted 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0292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065776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47C5C"/>
                </a:solidFill>
              </a:rPr>
              <a:t>Screen time concerns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5431536"/>
            <a:ext cx="4937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F4F3"/>
                </a:solidFill>
              </a:rPr>
              <a:t>Positioned as creative tool — parents already pay for art classes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1691640"/>
            <a:ext cx="36576" cy="4572000"/>
          </a:xfrm>
          <a:prstGeom prst="rect">
            <a:avLst/>
          </a:prstGeom>
          <a:solidFill>
            <a:srgbClr val="288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173736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CC8C3"/>
                </a:solidFill>
              </a:rPr>
              <a:t>Safety Infrastructure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2860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🛡️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600" y="2340864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F4F3"/>
                </a:solidFill>
              </a:rPr>
              <a:t>No open DMs — ever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2980944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👁️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86600" y="3035808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F4F3"/>
                </a:solidFill>
              </a:rPr>
              <a:t>AI-assisted content moderation + human review queue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3675887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86600" y="3730751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F4F3"/>
                </a:solidFill>
              </a:rPr>
              <a:t>Private child profiles — not searchable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437083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86600" y="4425696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F4F3"/>
                </a:solidFill>
              </a:rPr>
              <a:t>Parent must approve every upload before it's visible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5065776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86600" y="512064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F4F3"/>
                </a:solidFill>
              </a:rPr>
              <a:t>COPPA-compliant data handling from day one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57607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🤖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86600" y="5815584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F4F3"/>
                </a:solidFill>
              </a:rPr>
              <a:t>AI feedback is encouraging only — no negative scores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640312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AAA8"/>
                </a:solidFill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C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"/>
            <a:ext cx="12188952" cy="54864"/>
          </a:xfrm>
          <a:prstGeom prst="rect">
            <a:avLst/>
          </a:prstGeom>
          <a:solidFill>
            <a:srgbClr val="4CC8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0" y="457200"/>
            <a:ext cx="4572000" cy="5943600"/>
          </a:xfrm>
          <a:prstGeom prst="roundRect">
            <a:avLst>
              <a:gd name="adj" fmla="val 8000"/>
            </a:avLst>
          </a:prstGeom>
          <a:solidFill>
            <a:srgbClr val="12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772400" y="1371600"/>
            <a:ext cx="3657600" cy="3657600"/>
          </a:xfrm>
          <a:prstGeom prst="ellipse">
            <a:avLst/>
          </a:prstGeom>
          <a:solidFill>
            <a:srgbClr val="288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78240" y="2377440"/>
            <a:ext cx="1645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0" i="0">
                <a:solidFill>
                  <a:srgbClr val="FFFFFF"/>
                </a:solidFill>
              </a:rPr>
              <a:t>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CC8C3"/>
                </a:solidFill>
              </a:rPr>
              <a:t>TEST PLAN + ASK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914400"/>
            <a:ext cx="5943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</a:rPr>
              <a:t>90-Day
Launch Plan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743200"/>
            <a:ext cx="6583680" cy="1078992"/>
          </a:xfrm>
          <a:prstGeom prst="roundRect">
            <a:avLst>
              <a:gd name="adj" fmla="val 8000"/>
            </a:avLst>
          </a:prstGeom>
          <a:solidFill>
            <a:srgbClr val="12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2743200"/>
            <a:ext cx="960120" cy="1078992"/>
          </a:xfrm>
          <a:prstGeom prst="roundRect">
            <a:avLst>
              <a:gd name="adj" fmla="val 8000"/>
            </a:avLst>
          </a:prstGeom>
          <a:solidFill>
            <a:srgbClr val="288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834640"/>
            <a:ext cx="868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Phase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218688"/>
            <a:ext cx="868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0E1DF"/>
                </a:solidFill>
              </a:rPr>
              <a:t>Days 1–30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85292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CC8C3"/>
                </a:solidFill>
              </a:rPr>
              <a:t>Waitlist + Community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3218688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4F3"/>
                </a:solidFill>
              </a:rPr>
              <a:t>Build email list of 500 families. Run parent Facebook group. Validate art upload flow with 20 beta kids.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023360"/>
            <a:ext cx="6583680" cy="1078992"/>
          </a:xfrm>
          <a:prstGeom prst="roundRect">
            <a:avLst>
              <a:gd name="adj" fmla="val 8000"/>
            </a:avLst>
          </a:prstGeom>
          <a:solidFill>
            <a:srgbClr val="12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57200" y="4023360"/>
            <a:ext cx="960120" cy="1078992"/>
          </a:xfrm>
          <a:prstGeom prst="roundRect">
            <a:avLst>
              <a:gd name="adj" fmla="val 8000"/>
            </a:avLst>
          </a:prstGeom>
          <a:solidFill>
            <a:srgbClr val="288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4114800"/>
            <a:ext cx="868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Phase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498848"/>
            <a:ext cx="868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0E1DF"/>
                </a:solidFill>
              </a:rPr>
              <a:t>Days 31–60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13308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CC8C3"/>
                </a:solidFill>
              </a:rPr>
              <a:t>First Mail Drop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498848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4F3"/>
                </a:solidFill>
              </a:rPr>
              <a:t>50 paid Creator subscribers. Mail first round of postcards. Capture parent reactions + kid responses.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5303520"/>
            <a:ext cx="6583680" cy="1078992"/>
          </a:xfrm>
          <a:prstGeom prst="roundRect">
            <a:avLst>
              <a:gd name="adj" fmla="val 8000"/>
            </a:avLst>
          </a:prstGeom>
          <a:solidFill>
            <a:srgbClr val="12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57200" y="5303520"/>
            <a:ext cx="960120" cy="1078992"/>
          </a:xfrm>
          <a:prstGeom prst="roundRect">
            <a:avLst>
              <a:gd name="adj" fmla="val 8000"/>
            </a:avLst>
          </a:prstGeom>
          <a:solidFill>
            <a:srgbClr val="288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5394960"/>
            <a:ext cx="868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Phase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5779008"/>
            <a:ext cx="868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0E1DF"/>
                </a:solidFill>
              </a:rPr>
              <a:t>Days 61–90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541324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CC8C3"/>
                </a:solidFill>
              </a:rPr>
              <a:t>Prove Retention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08760" y="5779008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4F3"/>
                </a:solidFill>
              </a:rPr>
              <a:t>Measure 30-day re-upload rate. Target: 60%+ kids upload again after receiving their first postcard.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5760720"/>
            <a:ext cx="6583680" cy="822960"/>
          </a:xfrm>
          <a:prstGeom prst="roundRect">
            <a:avLst>
              <a:gd name="adj" fmla="val 8000"/>
            </a:avLst>
          </a:prstGeom>
          <a:solidFill>
            <a:srgbClr val="4CC8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585216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2C2C"/>
                </a:solidFill>
              </a:rPr>
              <a:t>The Ask: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11680" y="585216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2C2C"/>
                </a:solidFill>
              </a:rPr>
              <a:t>$150K pre-seed  ·  12 months  ·  1,000 paying families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79" y="576072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0E1DF"/>
                </a:solidFill>
              </a:rPr>
              <a:t>dc.long123@gmail.com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79" y="612648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8AAA8"/>
                </a:solidFill>
              </a:rPr>
              <a:t>kidscreativityconfidenceclub.com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640312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AAA8"/>
                </a:solidFill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