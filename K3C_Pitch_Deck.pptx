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40880" y="365760"/>
            <a:ext cx="5120640" cy="51206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89520" y="914400"/>
            <a:ext cx="4023360" cy="4023360"/>
          </a:xfrm>
          <a:prstGeom prst="ellipse">
            <a:avLst/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0" y="210312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5669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548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914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CC8C3"/>
                </a:solidFill>
              </a:rPr>
              <a:t>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8521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7132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Kids Creativity
Confidence Club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475488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E1DF"/>
                </a:solidFill>
              </a:rPr>
              <a:t>A mail-powered creator community that helps kids keep creating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A0E1DF"/>
                </a:solidFill>
              </a:rPr>
              <a:t>turning imagination into encouragement, recognition, and real keepsakes.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🔒 Parent-Controlled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360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📬 Real Mail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79" y="5074920"/>
            <a:ext cx="2148840" cy="43891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19" y="5093208"/>
            <a:ext cx="2011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🌟 Community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</a:rPr>
              <a:t>Kids Stop
Creating.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27432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72%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of kids aged 10–14 say they
feel "not creative enough"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1 in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11480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kids stop making art by
middle school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12079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4CC8C3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5212079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safe platforms built
around a child's artwork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9144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1945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CC8C3"/>
                </a:solidFill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7432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1">
                <a:solidFill>
                  <a:srgbClr val="F7D060"/>
                </a:solidFill>
              </a:rPr>
              <a:t>"I'm not good
enough."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audience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Nobody sees their 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feedback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060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Silence kills motivation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484632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490118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 continuity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52303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No reason to create again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Mail makes encouragement feel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45720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0E1DF"/>
                </a:solidFill>
              </a:rPr>
              <a:t>The community keeps kids creating.
The mail makes the recognition tangible.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Digital Community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Safe space to share art,
get reactions, join challenges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5212080" cy="256032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361188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37033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Physical 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160520"/>
            <a:ext cx="3931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Real postcards &amp; keepsakes
delivered to their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389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4CC8C3"/>
                </a:solidFill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760720"/>
            <a:ext cx="10698480" cy="749808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83387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C2C"/>
                </a:solidFill>
              </a:rPr>
              <a:t>= A safe creator community powered by real mail that keeps kids creating.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MARKET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People crave real 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91640"/>
            <a:ext cx="36576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2140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4CC8C3"/>
                </a:solidFill>
              </a:rPr>
              <a:t>806K+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97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E1DF"/>
                </a:solidFill>
              </a:rPr>
              <a:t>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Postcrossing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19456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87M+ postcards exchanged
worldwide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1168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4884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12140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4CC8C3"/>
                </a:solidFill>
              </a:rPr>
              <a:t>1M+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97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E1DF"/>
                </a:solidFill>
              </a:rPr>
              <a:t>letters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017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Letters Against
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19456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Delivered during
COVID isolation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519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6168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4CC8C3"/>
                </a:solidFill>
              </a:rPr>
              <a:t>1M+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E1DF"/>
                </a:solidFill>
              </a:rPr>
              <a:t>letters 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257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Love For Our Elders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43484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100+ chapters,
70+ mailboxes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3891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6168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4CC8C3"/>
                </a:solidFill>
              </a:rPr>
              <a:t>All 50
states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E1DF"/>
                </a:solidFill>
              </a:rPr>
              <a:t>+ 70+ countries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257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More Love Letters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4434840"/>
            <a:ext cx="1737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Active community
sending encouragement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0E1DF"/>
                </a:solidFill>
              </a:rPr>
              <a:t>✦  Real mail isn't nostalgic — it's powerful. Kids just haven't had it built for them.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THE PRODUCT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Five steps. One flywheel.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🖍️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Kid makes 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52928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52928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4408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UPLOAD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Photo to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5776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57216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57216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8696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ENCOURAGED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7216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Reactions + AI
feedback + peers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77456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70064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61504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61504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72984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MAILED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Real postcard
arrives at home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81744" y="3383280"/>
            <a:ext cx="3383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CC8C3"/>
                </a:solidFill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74352" y="2286000"/>
            <a:ext cx="1920240" cy="274320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65792" y="2350008"/>
            <a:ext cx="512064" cy="512064"/>
          </a:xfrm>
          <a:prstGeom prst="ellipse">
            <a:avLst/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5792" y="23500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77272" y="2377440"/>
            <a:ext cx="91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3246120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CREATE
AGAIN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3794760"/>
            <a:ext cx="1737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A0E1DF"/>
                </a:solidFill>
              </a:rPr>
              <a:t>Cycle repeats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94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CC8C3"/>
                </a:solidFill>
              </a:rPr>
              <a:t>↩  The loop is the product. Mail closes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Kid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Their art gallery — front and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64991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01567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Stars, hearts, and encouraging reactions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78224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Monthly challenge prompts to 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91456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2803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Milestone badges and creator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0468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4126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E8F4F3"/>
                </a:solidFill>
              </a:rPr>
              <a:t>Mail tracker — "Your postcard was mailed!"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731520"/>
            <a:ext cx="2743200" cy="5303520"/>
          </a:xfrm>
          <a:prstGeom prst="roundRect">
            <a:avLst>
              <a:gd name="adj" fmla="val 8000"/>
            </a:avLst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0" y="731520"/>
            <a:ext cx="2743200" cy="530352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1005840"/>
            <a:ext cx="2286000" cy="457200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868680"/>
            <a:ext cx="731520" cy="182880"/>
          </a:xfrm>
          <a:prstGeom prst="roundRect">
            <a:avLst>
              <a:gd name="adj" fmla="val 8000"/>
            </a:avLst>
          </a:prstGeom>
          <a:solidFill>
            <a:srgbClr val="0D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0" y="6035040"/>
            <a:ext cx="365760" cy="365760"/>
          </a:xfrm>
          <a:prstGeom prst="ellipse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11430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🎨  My 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508760"/>
            <a:ext cx="2103120" cy="36576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160020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166420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86600" y="2560320"/>
            <a:ext cx="1005840" cy="86868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2624328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9320" y="35661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E1DF"/>
                </a:solidFill>
              </a:rPr>
              <a:t>⭐ 12   ❤️ 8   🎉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89320" y="3977639"/>
            <a:ext cx="210312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0690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📬  Postcard in transit!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A0E1DF"/>
                </a:solidFill>
              </a:rPr>
              <a:t>No open feeds.
No follower counts.
Just their own creative world.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5056632" cy="6858000"/>
          </a:xfrm>
          <a:prstGeom prst="rect">
            <a:avLst/>
          </a:prstGeom>
          <a:solidFill>
            <a:srgbClr val="08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What the
Parent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797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Full approval control — nothing ships without parent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290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655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Private child profiles, no strangers can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513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Moderated reactions only — no open DMs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006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371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Printed keepsake books — optional add-on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22976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Creativity streak tracker and milestone alerts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914400"/>
            <a:ext cx="4297680" cy="3108960"/>
          </a:xfrm>
          <a:prstGeom prst="rect">
            <a:avLst/>
          </a:prstGeom>
          <a:solidFill>
            <a:srgbClr val="1A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43800" y="1051560"/>
            <a:ext cx="4023360" cy="2788920"/>
          </a:xfrm>
          <a:prstGeom prst="rect">
            <a:avLst/>
          </a:prstGeom>
          <a:solidFill>
            <a:srgbClr val="0F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4023360"/>
            <a:ext cx="5056632" cy="201168"/>
          </a:xfrm>
          <a:prstGeom prst="rect">
            <a:avLst/>
          </a:prstGeom>
          <a:solidFill>
            <a:srgbClr val="28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1143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Parent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463040"/>
            <a:ext cx="384048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839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0839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artworks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1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🏅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1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badges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1554480"/>
            <a:ext cx="1188720" cy="594360"/>
          </a:xfrm>
          <a:prstGeom prst="roundRect">
            <a:avLst>
              <a:gd name="adj" fmla="val 8000"/>
            </a:avLst>
          </a:prstGeom>
          <a:solidFill>
            <a:srgbClr val="1E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0152" y="16002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📬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856231"/>
            <a:ext cx="1051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A8"/>
                </a:solidFill>
              </a:rPr>
              <a:t>mailed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840480" cy="685800"/>
          </a:xfrm>
          <a:prstGeom prst="roundRect">
            <a:avLst>
              <a:gd name="adj" fmla="val 8000"/>
            </a:avLst>
          </a:prstGeom>
          <a:solidFill>
            <a:srgbClr val="2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2350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7D060"/>
                </a:solidFill>
              </a:rPr>
              <a:t>⏳  Pending approval: 1 artwork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39572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CC8C3"/>
                </a:solidFill>
              </a:rPr>
              <a:t>Approve  |  Decline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3063240"/>
            <a:ext cx="3840480" cy="59436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📦  Order keepsake book — $19.99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029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CC8C3"/>
                </a:solidFill>
              </a:rPr>
              <a:t>Parents are in control — always.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What Grandparents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737360"/>
            <a:ext cx="4114800" cy="4572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A0E1DF"/>
                </a:solidFill>
              </a:rPr>
              <a:t>No app required. No account.
Just joy in the mailbox.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Postcard arrives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Real mail with
kid's original 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QR code inside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Scan to see the
online gallery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Keepsake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Optional printed
book of all artwork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3017520"/>
            <a:ext cx="2560320" cy="22860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315468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21868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Reaction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384048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0E1DF"/>
                </a:solidFill>
              </a:rPr>
              <a:t>Pre-stamped note
back to the kid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54864" cy="822960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68756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E8F4F3"/>
                </a:solidFill>
              </a:rPr>
              <a:t>"Grandparents don't need an account.
They just get a letter from their grandkid."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286000"/>
            <a:ext cx="2103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0" i="0">
                <a:solidFill>
                  <a:srgbClr val="FFFFFF"/>
                </a:solidFill>
              </a:rPr>
              <a:t>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A8"/>
                </a:solidFill>
              </a:rPr>
              <a:t>The best gift a grandparent
can receive — made by the kid.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Simple. Predictable. Family-Friendly.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807D"/>
                </a:solidFill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$0/mo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Upload up to 3 artworks/mo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Reactions from family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Monthly challenge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AAA8"/>
                </a:solidFill>
              </a:rPr>
              <a:t>✗  No mail included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737360"/>
            <a:ext cx="3566160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Most Popular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C8C3"/>
                </a:solidFill>
              </a:rPr>
              <a:t>CREATOR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$9/mo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Unlimited uploads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1 postcard mailed/month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AI feedback + peer community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Milestone badges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1737360"/>
            <a:ext cx="3566160" cy="5029200"/>
          </a:xfrm>
          <a:prstGeom prst="roundRect">
            <a:avLst>
              <a:gd name="adj" fmla="val 8000"/>
            </a:avLst>
          </a:prstGeom>
          <a:solidFill>
            <a:srgbClr val="10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60" y="1737360"/>
            <a:ext cx="3566160" cy="54864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0" y="1874519"/>
            <a:ext cx="1371600" cy="32004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90195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C2C"/>
                </a:solidFill>
              </a:rPr>
              <a:t>Best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2860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8807D"/>
                </a:solidFill>
              </a:rPr>
              <a:t>FAMILY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$19/mo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AAA8"/>
                </a:solidFill>
              </a:rPr>
              <a:t>per month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3657600"/>
            <a:ext cx="320040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74903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Up to 3 kids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18795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3 postcards/month 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626864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Grandparent sharing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506577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✓  Annual keepsake book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CC8C3"/>
                </a:solidFill>
              </a:rPr>
              <a:t>Add-ons: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44652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Extra postcards: $2/ea   |   Keepsake book: $19.99   |   Grandparent bundle: $4.99/mo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Built-In Growth Loops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👨‍👩‍👧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Grandparent Referral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shares kid's art → Grandparent gets postcard → Grandparent asks for more → Parent upgrades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574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School Viral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514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Kid shows postcard at school → Classmate wants one → Parent signs up → New paying family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Creator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Monthly themes drive uploads → Leaderboards create friendly competition → Low churn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60520"/>
            <a:ext cx="5486400" cy="201168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343400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89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Keepsake Upsell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8463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12 months of art → End-of-year book prompt → $19.99 add-on → High-margin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CC8C3"/>
                </a:solidFill>
              </a:rPr>
              <a:t>Organic growth is the strategy. Mail is the catalyst.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COMPETITIVE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Hard to copy.
Harder to leave.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2596896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59689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Emotional Lock-In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443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A child's art history lives here. You don't delete the app that holds your kid's masterpieces.</a:t>
            </a:r>
          </a:p>
        </p:txBody>
      </p:sp>
      <p:sp>
        <p:nvSpPr>
          <p:cNvPr id="9" name="Oval 8"/>
          <p:cNvSpPr/>
          <p:nvPr/>
        </p:nvSpPr>
        <p:spPr>
          <a:xfrm>
            <a:off x="521208" y="3401567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364991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01567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Physical + Digital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749039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No tech-only competitor can replicate real mail. No mail company can replicate the community.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" y="4206239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69663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👨‍👩‍👧‍👦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2062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Family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553711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Each family adds grandparents, aunts, uncles. Every connection deepens retention.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" y="5010912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97433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01091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Trust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5838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COPPA-compliant from day one. No DMs, moderated content, parent approval. Trust is the product.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" y="5815584"/>
            <a:ext cx="329184" cy="329184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79008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815584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Creative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305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A8"/>
                </a:solidFill>
              </a:rPr>
              <a:t>Proprietary dataset of children's creative development = future personalization no one else has.</a:t>
            </a:r>
          </a:p>
        </p:txBody>
      </p:sp>
      <p:sp>
        <p:nvSpPr>
          <p:cNvPr id="25" name="Oval 24"/>
          <p:cNvSpPr/>
          <p:nvPr/>
        </p:nvSpPr>
        <p:spPr>
          <a:xfrm>
            <a:off x="8321040" y="2011680"/>
            <a:ext cx="3291840" cy="32918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78240" y="2468880"/>
            <a:ext cx="2377440" cy="237744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0" y="2926080"/>
            <a:ext cx="1463040" cy="1463040"/>
          </a:xfrm>
          <a:prstGeom prst="ellipse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0" y="329184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33832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2C2C"/>
                </a:solidFill>
              </a:rPr>
              <a:t>K3C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The numbers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CC8C3"/>
                </a:solidFill>
              </a:rPr>
              <a:t>Creator Plan  —  $9/month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Postcard printing + postage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2402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$1.80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15768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Platform / infra per 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715768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91256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AI moderation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91256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66744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F4F3"/>
                </a:solidFill>
              </a:rPr>
              <a:t>Customer support allocation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666744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E8F4F3"/>
                </a:solidFill>
              </a:rPr>
              <a:t>$0.35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96512"/>
            <a:ext cx="5303520" cy="27432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4223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CC8C3"/>
                </a:solidFill>
              </a:rPr>
              <a:t>Total COGS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142232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4CC8C3"/>
                </a:solidFill>
              </a:rPr>
              <a:t>$3.00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54880"/>
            <a:ext cx="5303520" cy="914400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6460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Gross Margin: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80060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67%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Avg monthly revenue
per family (blended)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45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828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18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560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Target payback period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$680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LTV estimate
(18-month avg tenure)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3931920"/>
            <a:ext cx="2468880" cy="18288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411480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4CC8C3"/>
                </a:solidFill>
              </a:rPr>
              <a:t>~$18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484632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Blended CAC target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RISKS +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We've thought about the hard stuff.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47C5C"/>
                </a:solidFill>
              </a:rPr>
              <a:t>Known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225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Churn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883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Kids age out — mitigated by family plan / sibling continuity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Mail ops complexity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027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Partnering with print-on-demand + USPS bulk rate from day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⚖️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COPPA 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Children's privacy law built into architecture, not bolted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0657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47C5C"/>
                </a:solidFill>
              </a:rPr>
              <a:t>Screen time concerns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3153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3"/>
                </a:solidFill>
              </a:rPr>
              <a:t>Positioned as creative tool — parents already pay for art 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691640"/>
            <a:ext cx="36576" cy="4572000"/>
          </a:xfrm>
          <a:prstGeom prst="rect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CC8C3"/>
                </a:solidFill>
              </a:rPr>
              <a:t>Safety 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34086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No open DMs — ever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9809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👁️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03580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AI-assisted content moderation + human review queue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7588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30751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Private child profiles — not searchable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7083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42569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Parent must approve every upload before it's visible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0657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5120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COPPA-compliant data handling from day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760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81558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3"/>
                </a:solidFill>
              </a:rPr>
              <a:t>AI feedback is encouraging only — no negative scores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0" y="457200"/>
            <a:ext cx="4572000" cy="5943600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1371600"/>
            <a:ext cx="3657600" cy="3657600"/>
          </a:xfrm>
          <a:prstGeom prst="ellipse">
            <a:avLst/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0" y="2377440"/>
            <a:ext cx="1645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CC8C3"/>
                </a:solidFill>
              </a:rPr>
              <a:t>TEST PLAN +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5943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90-Day
Launch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4320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1868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1–30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5292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Waitlist + 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21868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Build email list of 500 families. Run parent Facebook group. Validate art upload flow with 20 beta kids.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402336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9884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31–60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1330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First Mail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49884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50 paid Creator subscribers. Mail first round of postcards. Capture parent reactions + kid responses.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03520"/>
            <a:ext cx="6583680" cy="1078992"/>
          </a:xfrm>
          <a:prstGeom prst="roundRect">
            <a:avLst>
              <a:gd name="adj" fmla="val 8000"/>
            </a:avLst>
          </a:prstGeom>
          <a:solidFill>
            <a:srgbClr val="12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5303520"/>
            <a:ext cx="960120" cy="1078992"/>
          </a:xfrm>
          <a:prstGeom prst="roundRect">
            <a:avLst>
              <a:gd name="adj" fmla="val 8000"/>
            </a:avLst>
          </a:prstGeom>
          <a:solidFill>
            <a:srgbClr val="288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5394960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79008"/>
            <a:ext cx="868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E1DF"/>
                </a:solidFill>
              </a:rPr>
              <a:t>Days 61–90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413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CC8C3"/>
                </a:solidFill>
              </a:rPr>
              <a:t>Prove Retention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5779008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4F3"/>
                </a:solidFill>
              </a:rPr>
              <a:t>Measure 30-day re-upload rate. Target: 60%+ kids upload again after receiving their first postcard.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760720"/>
            <a:ext cx="6583680" cy="822960"/>
          </a:xfrm>
          <a:prstGeom prst="roundRect">
            <a:avLst>
              <a:gd name="adj" fmla="val 8000"/>
            </a:avLst>
          </a:prstGeom>
          <a:solidFill>
            <a:srgbClr val="4CC8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2C"/>
                </a:solidFill>
              </a:rPr>
              <a:t>The Ask: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852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C2C"/>
                </a:solidFill>
              </a:rPr>
              <a:t>$150K pre-seed  ·  12 months  ·  1,000 paying families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760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0E1DF"/>
                </a:solidFill>
              </a:rPr>
              <a:t>dc.long123@gmail.com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61264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8AAA8"/>
                </a:solidFill>
              </a:rPr>
              <a:t>kidscreativityconfidenceclub.com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40312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AAA8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