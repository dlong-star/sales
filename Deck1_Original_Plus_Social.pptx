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74" r:id="rId22"/>
    <p:sldId id="275" r:id="rId23"/>
    <p:sldId id="276" r:id="rId24"/>
    <p:sldId id="277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492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621" y="2130426"/>
            <a:ext cx="7770376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243" y="3886200"/>
            <a:ext cx="639913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38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4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25" y="4406901"/>
            <a:ext cx="7770376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25" y="2906713"/>
            <a:ext cx="7770376" cy="1500187"/>
          </a:xfrm>
        </p:spPr>
        <p:txBody>
          <a:bodyPr anchor="b"/>
          <a:lstStyle>
            <a:lvl1pPr marL="0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50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081" y="1600201"/>
            <a:ext cx="403754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990" y="1600201"/>
            <a:ext cx="403754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76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1" y="1535113"/>
            <a:ext cx="4039136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081" y="2174875"/>
            <a:ext cx="4039136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3816" y="1535113"/>
            <a:ext cx="4040722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3816" y="2174875"/>
            <a:ext cx="4040722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4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284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201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273050"/>
            <a:ext cx="3007530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119" y="273051"/>
            <a:ext cx="5110419" cy="585311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1435101"/>
            <a:ext cx="300753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69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821" y="4800600"/>
            <a:ext cx="5484971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821" y="612775"/>
            <a:ext cx="5484971" cy="4114800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821" y="5367338"/>
            <a:ext cx="5484971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790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23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4" y="274639"/>
            <a:ext cx="205686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081" y="274639"/>
            <a:ext cx="601823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769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081" y="274638"/>
            <a:ext cx="82274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1" y="1600201"/>
            <a:ext cx="82274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081" y="6356351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3386" y="6356351"/>
            <a:ext cx="28948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1494" y="6356351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3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063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7" indent="-342797" algn="l" defTabSz="457063" rtl="0" eaLnBrk="1" latinLnBrk="0" hangingPunct="1">
        <a:spcBef>
          <a:spcPct val="20000"/>
        </a:spcBef>
        <a:buFont typeface="Arial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buFont typeface="Arial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ct val="20000"/>
        </a:spcBef>
        <a:buFont typeface="Arial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ct val="20000"/>
        </a:spcBef>
        <a:buFont typeface="Arial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ct val="20000"/>
        </a:spcBef>
        <a:buFont typeface="Arial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040880" y="365760"/>
            <a:ext cx="5120640" cy="5120640"/>
          </a:xfrm>
          <a:prstGeom prst="ellipse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589520" y="914400"/>
            <a:ext cx="4023360" cy="4023360"/>
          </a:xfrm>
          <a:prstGeom prst="ellipse">
            <a:avLst/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0" y="21031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669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48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914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280160"/>
            <a:ext cx="7132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 dirty="0">
                <a:solidFill>
                  <a:srgbClr val="FFFFFF"/>
                </a:solidFill>
              </a:rPr>
              <a:t>Kids Creativity
Confidence Club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475488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A0E1DF"/>
                </a:solidFill>
              </a:rPr>
              <a:t>A </a:t>
            </a:r>
            <a:r>
              <a:rPr lang="en-US" sz="1800" b="0" i="0" dirty="0">
                <a:solidFill>
                  <a:srgbClr val="A0E1DF"/>
                </a:solidFill>
              </a:rPr>
              <a:t>Platform and </a:t>
            </a:r>
            <a:r>
              <a:rPr sz="1800" b="0" i="0" dirty="0">
                <a:solidFill>
                  <a:srgbClr val="A0E1DF"/>
                </a:solidFill>
              </a:rPr>
              <a:t>mail-powered creator community that helps kids keep creating</a:t>
            </a:r>
            <a:r>
              <a:rPr lang="en-US" sz="1800" b="0" i="0" dirty="0">
                <a:solidFill>
                  <a:srgbClr val="A0E1DF"/>
                </a:solidFill>
              </a:rPr>
              <a:t>,</a:t>
            </a:r>
            <a:endParaRPr sz="1800" b="0" i="0" dirty="0">
              <a:solidFill>
                <a:srgbClr val="A0E1D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4165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A0E1DF"/>
                </a:solidFill>
              </a:rPr>
              <a:t>turning imagination into encouragement, recognition, and real keepsakes.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093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Parent-Controlled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5074920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71800" y="5093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📬 Real Mail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5074920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19" y="5093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🌟 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753641" y="-913269"/>
            <a:ext cx="5027890" cy="5759220"/>
          </a:xfrm>
          <a:prstGeom prst="ellipse">
            <a:avLst/>
          </a:prstGeom>
          <a:solidFill>
            <a:srgbClr val="042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516" y="1232330"/>
            <a:ext cx="700223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063"/>
            <a:r>
              <a:rPr sz="6600" dirty="0">
                <a:solidFill>
                  <a:srgbClr val="F5F7F7"/>
                </a:solidFill>
                <a:latin typeface="Georgia"/>
              </a:rPr>
              <a:t>Tiny Masterpieces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329" y="3218743"/>
            <a:ext cx="575922" cy="0"/>
          </a:xfrm>
          <a:prstGeom prst="line">
            <a:avLst/>
          </a:prstGeom>
          <a:ln w="31750">
            <a:solidFill>
              <a:srgbClr val="49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046" y="3401575"/>
            <a:ext cx="6033468" cy="75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063">
              <a:spcAft>
                <a:spcPts val="400"/>
              </a:spcAft>
            </a:pPr>
            <a:r>
              <a:rPr sz="2199" dirty="0">
                <a:solidFill>
                  <a:srgbClr val="CDDDDD"/>
                </a:solidFill>
                <a:latin typeface="Aptos"/>
              </a:rPr>
              <a:t>Big confidence from little creations.</a:t>
            </a:r>
          </a:p>
          <a:p>
            <a:pPr defTabSz="457063"/>
            <a:r>
              <a:rPr sz="1799" dirty="0">
                <a:solidFill>
                  <a:srgbClr val="CDDDDD"/>
                </a:solidFill>
                <a:latin typeface="Aptos"/>
              </a:rPr>
              <a:t>Every kid is an artist. We make sure they believe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665" y="4891749"/>
            <a:ext cx="5927794" cy="1581500"/>
          </a:xfrm>
          <a:prstGeom prst="roundRect">
            <a:avLst>
              <a:gd name="adj" fmla="val 8000"/>
            </a:avLst>
          </a:prstGeom>
          <a:solidFill>
            <a:srgbClr val="093E40"/>
          </a:solidFill>
          <a:ln w="12700">
            <a:solidFill>
              <a:srgbClr val="235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011156" y="5138483"/>
            <a:ext cx="0" cy="786179"/>
          </a:xfrm>
          <a:prstGeom prst="line">
            <a:avLst/>
          </a:prstGeom>
          <a:ln w="12700">
            <a:solidFill>
              <a:srgbClr val="235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35200" y="5175048"/>
            <a:ext cx="0" cy="786179"/>
          </a:xfrm>
          <a:prstGeom prst="line">
            <a:avLst/>
          </a:prstGeom>
          <a:ln w="12700">
            <a:solidFill>
              <a:srgbClr val="235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87885" y="5147624"/>
            <a:ext cx="420514" cy="420514"/>
          </a:xfrm>
          <a:prstGeom prst="ellipse">
            <a:avLst/>
          </a:prstGeom>
          <a:noFill/>
          <a:ln w="15240">
            <a:solidFill>
              <a:srgbClr val="49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52533" y="5196340"/>
            <a:ext cx="308865" cy="3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500" dirty="0">
                <a:solidFill>
                  <a:srgbClr val="49C7C7"/>
                </a:solidFill>
                <a:latin typeface="Aptos"/>
              </a:rPr>
              <a:t>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595" y="5531573"/>
            <a:ext cx="10659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CELEBRATE</a:t>
            </a:r>
          </a:p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CREATIVITY</a:t>
            </a:r>
          </a:p>
        </p:txBody>
      </p:sp>
      <p:sp>
        <p:nvSpPr>
          <p:cNvPr id="15" name="Oval 14"/>
          <p:cNvSpPr/>
          <p:nvPr/>
        </p:nvSpPr>
        <p:spPr>
          <a:xfrm>
            <a:off x="2532227" y="5147624"/>
            <a:ext cx="420514" cy="420514"/>
          </a:xfrm>
          <a:prstGeom prst="ellipse">
            <a:avLst/>
          </a:prstGeom>
          <a:noFill/>
          <a:ln w="15240">
            <a:solidFill>
              <a:srgbClr val="49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1999" y="5200012"/>
            <a:ext cx="644467" cy="3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500" dirty="0">
                <a:solidFill>
                  <a:srgbClr val="49C7C7"/>
                </a:solidFill>
                <a:latin typeface="Aptos"/>
              </a:rPr>
              <a:t>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9367" y="5589806"/>
            <a:ext cx="11061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BUILD</a:t>
            </a:r>
          </a:p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CONFIDENCE</a:t>
            </a:r>
          </a:p>
        </p:txBody>
      </p:sp>
      <p:sp>
        <p:nvSpPr>
          <p:cNvPr id="18" name="Oval 17"/>
          <p:cNvSpPr/>
          <p:nvPr/>
        </p:nvSpPr>
        <p:spPr>
          <a:xfrm>
            <a:off x="4058782" y="5147624"/>
            <a:ext cx="420514" cy="420514"/>
          </a:xfrm>
          <a:prstGeom prst="ellipse">
            <a:avLst/>
          </a:prstGeom>
          <a:noFill/>
          <a:ln w="15240">
            <a:solidFill>
              <a:srgbClr val="CAA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81861" y="5195075"/>
            <a:ext cx="400884" cy="3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500" dirty="0">
                <a:solidFill>
                  <a:srgbClr val="CAA75E"/>
                </a:solidFill>
                <a:latin typeface="Aptos"/>
              </a:rP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4673" y="5531573"/>
            <a:ext cx="16729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INSPIRE</a:t>
            </a:r>
          </a:p>
          <a:p>
            <a:pPr algn="ctr" defTabSz="457063"/>
            <a:r>
              <a:rPr sz="1100" dirty="0">
                <a:solidFill>
                  <a:srgbClr val="F5F7F7"/>
                </a:solidFill>
                <a:latin typeface="Aptos"/>
              </a:rPr>
              <a:t>POSSIBILITY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57329" y="595098"/>
            <a:ext cx="4570809" cy="5804928"/>
          </a:xfrm>
          <a:prstGeom prst="roundRect">
            <a:avLst>
              <a:gd name="adj" fmla="val 7000"/>
            </a:avLst>
          </a:prstGeom>
          <a:solidFill>
            <a:srgbClr val="0A4548"/>
          </a:solidFill>
          <a:ln w="12700">
            <a:solidFill>
              <a:srgbClr val="1C5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359003" y="1235012"/>
            <a:ext cx="3062442" cy="3062442"/>
          </a:xfrm>
          <a:prstGeom prst="ellipse">
            <a:avLst/>
          </a:prstGeom>
          <a:solidFill>
            <a:srgbClr val="2B8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73164" y="869347"/>
            <a:ext cx="1782616" cy="2376821"/>
          </a:xfrm>
          <a:prstGeom prst="rect">
            <a:avLst/>
          </a:prstGeom>
          <a:solidFill>
            <a:srgbClr val="B59974"/>
          </a:solidFill>
          <a:ln>
            <a:solidFill>
              <a:srgbClr val="A08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392005" y="988188"/>
            <a:ext cx="1544934" cy="2139139"/>
          </a:xfrm>
          <a:prstGeom prst="rect">
            <a:avLst/>
          </a:prstGeom>
          <a:solidFill>
            <a:srgbClr val="F7F2E9"/>
          </a:solidFill>
          <a:ln>
            <a:solidFill>
              <a:srgbClr val="DE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29130" y="1171020"/>
            <a:ext cx="1279827" cy="1076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2199">
                <a:solidFill>
                  <a:srgbClr val="E2BF42"/>
                </a:solidFill>
                <a:latin typeface="Aptos"/>
              </a:rPr>
              <a:t>☀</a:t>
            </a:r>
          </a:p>
          <a:p>
            <a:pPr algn="ctr" defTabSz="457063"/>
            <a:r>
              <a:rPr sz="2599">
                <a:solidFill>
                  <a:srgbClr val="58A7A5"/>
                </a:solidFill>
                <a:latin typeface="Aptos"/>
              </a:rPr>
              <a:t>/\</a:t>
            </a:r>
          </a:p>
          <a:p>
            <a:pPr algn="ctr" defTabSz="457063"/>
            <a:r>
              <a:rPr sz="1600">
                <a:solidFill>
                  <a:srgbClr val="66A55A"/>
                </a:solidFill>
                <a:latin typeface="Aptos"/>
              </a:rPr>
              <a:t>🌲  🏠  🌲</a:t>
            </a:r>
          </a:p>
        </p:txBody>
      </p:sp>
      <p:sp>
        <p:nvSpPr>
          <p:cNvPr id="26" name="Rectangle 25"/>
          <p:cNvSpPr/>
          <p:nvPr/>
        </p:nvSpPr>
        <p:spPr>
          <a:xfrm rot="21240000">
            <a:off x="7450419" y="3703249"/>
            <a:ext cx="2879610" cy="1627208"/>
          </a:xfrm>
          <a:prstGeom prst="rect">
            <a:avLst/>
          </a:prstGeom>
          <a:solidFill>
            <a:srgbClr val="F7F1E8"/>
          </a:solidFill>
          <a:ln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7" name="Connector 26"/>
          <p:cNvCxnSpPr/>
          <p:nvPr/>
        </p:nvCxnSpPr>
        <p:spPr>
          <a:xfrm rot="21240000">
            <a:off x="8867370" y="3822089"/>
            <a:ext cx="0" cy="1279828"/>
          </a:xfrm>
          <a:prstGeom prst="line">
            <a:avLst/>
          </a:prstGeom>
          <a:ln w="12700">
            <a:solidFill>
              <a:srgbClr val="D2CA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21240000">
            <a:off x="7706385" y="3599451"/>
            <a:ext cx="1033002" cy="1615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063"/>
            <a:r>
              <a:rPr sz="1100">
                <a:solidFill>
                  <a:srgbClr val="4A5254"/>
                </a:solidFill>
                <a:latin typeface="Segoe Print"/>
              </a:rPr>
              <a:t>Amazing job!</a:t>
            </a:r>
          </a:p>
          <a:p>
            <a:pPr defTabSz="457063"/>
            <a:r>
              <a:rPr sz="1100">
                <a:solidFill>
                  <a:srgbClr val="4A5254"/>
                </a:solidFill>
                <a:latin typeface="Segoe Print"/>
              </a:rPr>
              <a:t>Keep creating,</a:t>
            </a:r>
          </a:p>
          <a:p>
            <a:pPr defTabSz="457063"/>
            <a:r>
              <a:rPr sz="1100">
                <a:solidFill>
                  <a:srgbClr val="4A5254"/>
                </a:solidFill>
                <a:latin typeface="Segoe Print"/>
              </a:rPr>
              <a:t>the world needs</a:t>
            </a:r>
          </a:p>
          <a:p>
            <a:pPr defTabSz="457063"/>
            <a:r>
              <a:rPr sz="1100">
                <a:solidFill>
                  <a:srgbClr val="4A5254"/>
                </a:solidFill>
                <a:latin typeface="Segoe Print"/>
              </a:rPr>
              <a:t>your imagination.</a:t>
            </a:r>
          </a:p>
        </p:txBody>
      </p:sp>
      <p:sp>
        <p:nvSpPr>
          <p:cNvPr id="29" name="TextBox 28"/>
          <p:cNvSpPr txBox="1"/>
          <p:nvPr/>
        </p:nvSpPr>
        <p:spPr>
          <a:xfrm rot="21240000">
            <a:off x="9142638" y="4684187"/>
            <a:ext cx="1003540" cy="3692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063"/>
            <a:r>
              <a:rPr sz="900" b="1">
                <a:solidFill>
                  <a:srgbClr val="182323"/>
                </a:solidFill>
                <a:latin typeface="Aptos"/>
              </a:rPr>
              <a:t>TINY
MASTERPIECES</a:t>
            </a:r>
          </a:p>
        </p:txBody>
      </p:sp>
      <p:sp>
        <p:nvSpPr>
          <p:cNvPr id="30" name="Rectangle 29"/>
          <p:cNvSpPr/>
          <p:nvPr/>
        </p:nvSpPr>
        <p:spPr>
          <a:xfrm rot="21240000">
            <a:off x="9598699" y="4050629"/>
            <a:ext cx="319957" cy="383948"/>
          </a:xfrm>
          <a:prstGeom prst="rect">
            <a:avLst/>
          </a:prstGeom>
          <a:solidFill>
            <a:srgbClr val="0A4548"/>
          </a:solidFill>
          <a:ln>
            <a:solidFill>
              <a:srgbClr val="CAA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 rot="21240000">
            <a:off x="9587096" y="4081510"/>
            <a:ext cx="279171" cy="2307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063"/>
            <a:r>
              <a:rPr sz="900" b="1">
                <a:solidFill>
                  <a:srgbClr val="F5F7F7"/>
                </a:solidFill>
                <a:latin typeface="Aptos"/>
              </a:rPr>
              <a:t>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4407" y="4498569"/>
            <a:ext cx="1416951" cy="914162"/>
          </a:xfrm>
          <a:prstGeom prst="rect">
            <a:avLst/>
          </a:prstGeom>
          <a:solidFill>
            <a:srgbClr val="063538"/>
          </a:solidFill>
          <a:ln>
            <a:solidFill>
              <a:srgbClr val="032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9644407" y="4498569"/>
            <a:ext cx="713046" cy="457081"/>
          </a:xfrm>
          <a:prstGeom prst="line">
            <a:avLst/>
          </a:prstGeom>
          <a:ln w="12700">
            <a:solidFill>
              <a:srgbClr val="1446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0357453" y="4498569"/>
            <a:ext cx="703905" cy="457081"/>
          </a:xfrm>
          <a:prstGeom prst="line">
            <a:avLst/>
          </a:prstGeom>
          <a:ln w="12700">
            <a:solidFill>
              <a:srgbClr val="1446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644407" y="4955650"/>
            <a:ext cx="713046" cy="457081"/>
          </a:xfrm>
          <a:prstGeom prst="line">
            <a:avLst/>
          </a:prstGeom>
          <a:ln w="12700">
            <a:solidFill>
              <a:srgbClr val="1446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357453" y="4955650"/>
            <a:ext cx="703905" cy="457081"/>
          </a:xfrm>
          <a:prstGeom prst="line">
            <a:avLst/>
          </a:prstGeom>
          <a:ln w="12700">
            <a:solidFill>
              <a:srgbClr val="1446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558569" y="5028783"/>
            <a:ext cx="329098" cy="329098"/>
          </a:xfrm>
          <a:prstGeom prst="ellipse">
            <a:avLst/>
          </a:prstGeom>
          <a:solidFill>
            <a:srgbClr val="CAA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46966" y="5092775"/>
            <a:ext cx="279171" cy="2307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063"/>
            <a:r>
              <a:rPr sz="900" b="1">
                <a:solidFill>
                  <a:srgbClr val="063538"/>
                </a:solidFill>
                <a:latin typeface="Aptos"/>
              </a:rPr>
              <a:t>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196" y="6400027"/>
            <a:ext cx="14798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063"/>
            <a:r>
              <a:rPr sz="1000" dirty="0">
                <a:solidFill>
                  <a:srgbClr val="76A0A0"/>
                </a:solidFill>
                <a:latin typeface="Aptos"/>
              </a:rPr>
              <a:t>tinymasterpieces.com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Kids Stop
Creating.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27432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72%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0175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of kids aged 10–14 say they
feel "not creative enough"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1 in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1148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kids stop making art by
middle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212079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safe platforms built
around a child's artwork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9144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194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CC8C3"/>
                </a:solidFill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1">
                <a:solidFill>
                  <a:srgbClr val="F7D060"/>
                </a:solidFill>
              </a:rPr>
              <a:t>"I'm not good
enough."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8" y="4901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Nobody sees their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50608" y="4901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Silence kills motivation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19488" y="4901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continuity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No reason to create again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Mail makes encouragement feel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45720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E1DF"/>
                </a:solidFill>
              </a:rPr>
              <a:t>The community keeps kids creating.
The mail makes the recognition tangible.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5212080" cy="256032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703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Digital 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1605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Safe space to share art,
get reactions, join challenges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474720"/>
            <a:ext cx="5212080" cy="256032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36118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703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Physical 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1605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Real postcards &amp; keepsakes
delivered to their door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4CC8C3"/>
                </a:solidFill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760720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833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C2C"/>
                </a:solidFill>
              </a:rPr>
              <a:t>= A safe creator community powered by real mail that keeps kids creating.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MARKET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841248"/>
            <a:ext cx="1148486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</a:rPr>
              <a:t>The mail revival is already a business.</a:t>
            </a:r>
            <a:r>
              <a:rPr lang="en-US" sz="3800" b="1" i="0" dirty="0">
                <a:solidFill>
                  <a:srgbClr val="FFFFFF"/>
                </a:solidFill>
              </a:rPr>
              <a:t> </a:t>
            </a:r>
            <a:r>
              <a:rPr lang="en-US" sz="1400" b="1" i="1" u="sng" dirty="0">
                <a:solidFill>
                  <a:srgbClr val="FFFF00"/>
                </a:solidFill>
              </a:rPr>
              <a:t>(Small successful Social Pages I found online)</a:t>
            </a:r>
            <a:endParaRPr sz="1400" b="1" i="1" u="sng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59436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82496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84%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6420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</a:rPr>
              <a:t>of Americans now
incorporating analog
lifestyle choices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60020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55848" y="1600200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1682496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150K+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66420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</a:rPr>
              <a:t>TikTok posts
tagged #snailmail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60020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54496" y="1600200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656" y="1682496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~50%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166420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</a:rPr>
              <a:t>of Gen Z mails
something monthly
(Stamps.com)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60020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53144" y="1600200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682496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63%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7584" y="166420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</a:rPr>
              <a:t>of Gen Z intentionally
cutting screen time
(Talker Research)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529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C8C3"/>
                </a:solidFill>
              </a:rPr>
              <a:t>REAL CREATORS  ·  REAL REVENUE  ·  ZERO PAID 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18688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4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218688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3101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4CC8C3"/>
                </a:solidFill>
              </a:rPr>
              <a:t>$45K/</a:t>
            </a:r>
            <a:r>
              <a:rPr sz="2200" b="1" i="0" dirty="0" err="1">
                <a:solidFill>
                  <a:srgbClr val="4CC8C3"/>
                </a:solidFill>
              </a:rPr>
              <a:t>mo</a:t>
            </a:r>
            <a:endParaRPr sz="2200" b="1" i="0" dirty="0">
              <a:solidFill>
                <a:srgbClr val="4CC8C3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3813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Tiny 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178808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Hannah Gustafson · Austin TX
5,000 subs · $11/mo
0 paid ads, 0 PR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5848" y="3218688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4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55848" y="3218688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93008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4216" y="33101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C8C3"/>
                </a:solidFill>
              </a:rPr>
              <a:t>$18,300/mo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3813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Architecture Club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178808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Trinity Shiroma · Orlando FL
2,700 subs · $8.88/mo
1,300 subs in first 3 months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54496" y="3218688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4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54496" y="3218688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91656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2864" y="33101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C8C3"/>
                </a:solidFill>
              </a:rPr>
              <a:t>4,000 subs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3813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Little Kitchen of Bo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4178808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Bo Natakhin · Toronto
$20/issue · first drop
cooking zine via TikTok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53144" y="3218688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4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53144" y="3218688"/>
            <a:ext cx="27889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90304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1512" y="33101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C8C3"/>
                </a:solidFill>
              </a:rPr>
              <a:t>$14K/mo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0304" y="3813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Cloud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4178808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Christine Tyler Hill · Vermont
Crossing guard → 2,000 subs
3,600 on waitlist at launch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1663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C8C3"/>
                </a:solidFill>
              </a:rPr>
              <a:t>COMMUNITY PROOF  ·  PEOPLE ALREADY CHOOSE REAL MAIL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4864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0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55778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E1DF"/>
                </a:solidFill>
              </a:rPr>
              <a:t>806K members
87M+ postcards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6236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Postcrossing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55848" y="54864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0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65576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41648" y="55778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E1DF"/>
                </a:solidFill>
              </a:rPr>
              <a:t>1M+ letters
COVID-era strangers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6236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Letters Against Isolation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54496" y="54864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0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64224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0296" y="55778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E1DF"/>
                </a:solidFill>
              </a:rPr>
              <a:t>1M+ letters
100+ chapters, 70+ mailboxes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0296" y="6236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Love For Our Elders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53144" y="548640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0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62872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38944" y="55778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E1DF"/>
                </a:solidFill>
              </a:rPr>
              <a:t>All 50 states
70+ countries active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38944" y="6236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More Love Letters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THE PRODUCT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64008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</a:rPr>
              <a:t>Five steps. One flywheel.</a:t>
            </a:r>
            <a:endParaRPr lang="en-US" sz="3800" b="1" i="0" dirty="0">
              <a:solidFill>
                <a:srgbClr val="FFFFFF"/>
              </a:solidFill>
            </a:endParaRPr>
          </a:p>
          <a:p>
            <a:pPr algn="l"/>
            <a:r>
              <a:rPr lang="en-US" sz="3800" b="1" dirty="0">
                <a:solidFill>
                  <a:srgbClr val="FFFFFF"/>
                </a:solidFill>
              </a:rPr>
              <a:t>The Flywheel is the MOAT</a:t>
            </a:r>
            <a:endParaRPr sz="3800" b="1" i="0" dirty="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0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🖍️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Kid makes 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52928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52928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Photo to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157216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57216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ENCOURAGED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Reactions + AI
feedback + peers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0064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61504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61504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72984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MAILED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Real postcard
arrives at home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74352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765792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65792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CREATE
AGAIN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Cycle repeats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CC8C3"/>
                </a:solidFill>
              </a:rPr>
              <a:t>↩  The loop is the product. Mail closes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What the
Kid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8833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Their art gallery — front and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64991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7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Stars, hearts, and encouraging reactions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782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Monthly challenge prompts to 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914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280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Milestone badges and creator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046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4126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Mail tracker — "Your postcard was mailed!"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731520"/>
            <a:ext cx="2743200" cy="5303520"/>
          </a:xfrm>
          <a:prstGeom prst="roundRect">
            <a:avLst>
              <a:gd name="adj" fmla="val 8000"/>
            </a:avLst>
          </a:prstGeom>
          <a:solidFill>
            <a:srgbClr val="1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0" y="731520"/>
            <a:ext cx="2743200" cy="5303520"/>
          </a:xfrm>
          <a:prstGeom prst="rect">
            <a:avLst/>
          </a:prstGeom>
          <a:solidFill>
            <a:srgbClr val="1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7880" y="1005840"/>
            <a:ext cx="2286000" cy="4572000"/>
          </a:xfrm>
          <a:prstGeom prst="rect">
            <a:avLst/>
          </a:prstGeom>
          <a:solidFill>
            <a:srgbClr val="0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75120" y="868680"/>
            <a:ext cx="731520" cy="182880"/>
          </a:xfrm>
          <a:prstGeom prst="roundRect">
            <a:avLst>
              <a:gd name="adj" fmla="val 8000"/>
            </a:avLst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58000" y="6035040"/>
            <a:ext cx="365760" cy="365760"/>
          </a:xfrm>
          <a:prstGeom prst="ellipse">
            <a:avLst/>
          </a:prstGeom>
          <a:solidFill>
            <a:srgbClr val="28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🎨  My 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508760"/>
            <a:ext cx="2103120" cy="36576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89320" y="160020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166420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60020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166420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56032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262432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256032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78040" y="262432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66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⭐ 12   ❤️ 8   🎉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3977639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4069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📬  Postcard in transit!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0E1DF"/>
                </a:solidFill>
              </a:rPr>
              <a:t>No open feeds.
No follower counts.
Just their own creative world.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0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What the
Parent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797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Full approval control — nothing ships without parent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655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Private child profiles, no strangers can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513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Moderated reactions only — no open DMs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371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Printed keepsake books — optional add-on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229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Creativity streak tracker and milestone alerts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914400"/>
            <a:ext cx="4297680" cy="3108960"/>
          </a:xfrm>
          <a:prstGeom prst="rect">
            <a:avLst/>
          </a:prstGeom>
          <a:solidFill>
            <a:srgbClr val="1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43800" y="1051560"/>
            <a:ext cx="4023360" cy="2788920"/>
          </a:xfrm>
          <a:prstGeom prst="rect">
            <a:avLst/>
          </a:prstGeom>
          <a:solidFill>
            <a:srgbClr val="0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0" y="4023360"/>
            <a:ext cx="5056632" cy="201168"/>
          </a:xfrm>
          <a:prstGeom prst="rect">
            <a:avLst/>
          </a:prstGeom>
          <a:solidFill>
            <a:srgbClr val="28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1143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Parent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1463040"/>
            <a:ext cx="384048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635240" y="1554480"/>
            <a:ext cx="1188720" cy="59436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08392" y="1600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1856231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A8"/>
                </a:solidFill>
              </a:rPr>
              <a:t>artworks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1554480"/>
            <a:ext cx="1188720" cy="59436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34271" y="1600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🏅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1" y="1856231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A8"/>
                </a:solidFill>
              </a:rPr>
              <a:t>badges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0" y="1554480"/>
            <a:ext cx="1188720" cy="59436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60152" y="1600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📬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1856231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A8"/>
                </a:solidFill>
              </a:rPr>
              <a:t>mailed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2860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2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6679" y="2350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D060"/>
                </a:solidFill>
              </a:rPr>
              <a:t>⏳  Pending approval: 1 artwork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395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C8C3"/>
                </a:solidFill>
              </a:rPr>
              <a:t>Approve  |  Decline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06324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26679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 Order keepsake book — $19.99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029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CC8C3"/>
                </a:solidFill>
              </a:rPr>
              <a:t>Parents are in control — always.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107" y="606843"/>
            <a:ext cx="11731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Grandparents don’t need another app.</a:t>
            </a:r>
          </a:p>
          <a:p>
            <a:pPr algn="l"/>
            <a:endParaRPr sz="36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41148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029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A0E1DF"/>
                </a:solidFill>
              </a:rPr>
              <a:t>No app required. No account.
</a:t>
            </a:r>
            <a:r>
              <a:rPr lang="en-US" sz="2000" b="0" i="1" dirty="0">
                <a:solidFill>
                  <a:srgbClr val="A0E1DF"/>
                </a:solidFill>
              </a:rPr>
              <a:t>Just monthly subscription = JOY &amp; ENCOURAGMENT in Mailbox</a:t>
            </a:r>
            <a:endParaRPr sz="2000" b="0" i="1" dirty="0">
              <a:solidFill>
                <a:srgbClr val="A0E1D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218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Postcard arrives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2331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Real mail with the child’s art, note, and keepsakes, sent to grandparents or anyone the family chooses.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9184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18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QR code inside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40480"/>
            <a:ext cx="23317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bg1"/>
                </a:solidFill>
              </a:rPr>
              <a:t>Scan to see the
online gallery</a:t>
            </a:r>
            <a:r>
              <a:rPr lang="en-US" sz="1300" b="0" i="0" dirty="0">
                <a:solidFill>
                  <a:schemeClr val="bg1"/>
                </a:solidFill>
              </a:rPr>
              <a:t> for kids engagement</a:t>
            </a:r>
            <a:endParaRPr sz="1300" b="0" i="0" dirty="0">
              <a:solidFill>
                <a:schemeClr val="bg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2648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218688"/>
            <a:ext cx="1463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Keepsake Upgrades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40480"/>
            <a:ext cx="2331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dirty="0">
                <a:solidFill>
                  <a:schemeClr val="bg1"/>
                </a:solidFill>
              </a:rPr>
              <a:t>Turn </a:t>
            </a:r>
            <a:r>
              <a:rPr lang="en-GB" sz="1400" i="1" dirty="0" err="1">
                <a:solidFill>
                  <a:schemeClr val="bg1"/>
                </a:solidFill>
              </a:rPr>
              <a:t>favorite</a:t>
            </a:r>
            <a:r>
              <a:rPr lang="en-GB" sz="1400" i="1" dirty="0">
                <a:solidFill>
                  <a:schemeClr val="bg1"/>
                </a:solidFill>
              </a:rPr>
              <a:t> creations into prints, framed pieces, or a personalized art book.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218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Reaction 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585" y="3814554"/>
            <a:ext cx="2331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The child receives personalized encouragement about their artwork, with simple positive feedback that makes them feel seen and excited to create again.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54864" cy="82296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6875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8F4F3"/>
                </a:solidFill>
              </a:rPr>
              <a:t>"Grandparents don't need an account.
They just get a letter from their grandkid."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9905" y="4978908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 dirty="0">
                <a:solidFill>
                  <a:srgbClr val="FFFFFF"/>
                </a:solidFill>
              </a:rPr>
              <a:t>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759834"/>
            <a:ext cx="2926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88AAA8"/>
                </a:solidFill>
              </a:rPr>
              <a:t>The best gift a grandparent
can receive</a:t>
            </a:r>
            <a:r>
              <a:rPr lang="en-US" sz="1300" b="0" i="0" dirty="0">
                <a:solidFill>
                  <a:srgbClr val="88AAA8"/>
                </a:solidFill>
              </a:rPr>
              <a:t>,</a:t>
            </a:r>
            <a:r>
              <a:rPr sz="1300" b="0" i="0" dirty="0">
                <a:solidFill>
                  <a:srgbClr val="88AAA8"/>
                </a:solidFill>
              </a:rPr>
              <a:t> made by the kid.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30582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</a:rPr>
              <a:t>Simple. Predictable. Family-Friendly.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566160" cy="54864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371600" cy="32004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C2C"/>
                </a:solidFill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6025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8807D"/>
                </a:solidFill>
                <a:highlight>
                  <a:srgbClr val="FFFF00"/>
                </a:highlight>
              </a:rPr>
              <a:t>FREE</a:t>
            </a:r>
            <a:r>
              <a:rPr lang="en-US" sz="1600" b="1" i="0" dirty="0">
                <a:solidFill>
                  <a:srgbClr val="28807D"/>
                </a:solidFill>
                <a:highlight>
                  <a:srgbClr val="FFFF00"/>
                </a:highlight>
              </a:rPr>
              <a:t> This isn’t best Free option, but good idea to offer something</a:t>
            </a:r>
            <a:endParaRPr sz="1600" b="1" i="0" dirty="0">
              <a:solidFill>
                <a:srgbClr val="28807D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$0/mo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A8"/>
                </a:solidFill>
              </a:rPr>
              <a:t>per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320040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Upload up to 3 artworks/mo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87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Reactions from family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268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Monthly challenge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6577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A8"/>
                </a:solidFill>
              </a:rPr>
              <a:t>✗  No mail included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7373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1737360"/>
            <a:ext cx="3566160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89120" y="1874519"/>
            <a:ext cx="1371600" cy="320040"/>
          </a:xfrm>
          <a:prstGeom prst="roundRect">
            <a:avLst>
              <a:gd name="adj" fmla="val 8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C2C"/>
                </a:solidFill>
              </a:rPr>
              <a:t>Most Popular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CC8C3"/>
                </a:solidFill>
              </a:rPr>
              <a:t>CREATOR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$9/mo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A8"/>
                </a:solidFill>
              </a:rPr>
              <a:t>per 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657600"/>
            <a:ext cx="320040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37490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Unlimited uploads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187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1 postcard mailed/month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268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AI feedback + peer community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06577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Milestone badges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7373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1737360"/>
            <a:ext cx="3566160" cy="54864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29600" y="1874519"/>
            <a:ext cx="1371600" cy="32004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C2C"/>
                </a:solidFill>
              </a:rPr>
              <a:t>Best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8807D"/>
                </a:solidFill>
              </a:rPr>
              <a:t>FAMILY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$19/mo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A8"/>
                </a:solidFill>
              </a:rPr>
              <a:t>per month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657600"/>
            <a:ext cx="320040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37490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Up to 3 kids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187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3 postcards/month 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6268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Grandparent sharing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06577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Annual keepsake book included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C8C3"/>
                </a:solidFill>
              </a:rPr>
              <a:t>Add-ons: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644652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Extra postcards: $2/ea   |   Keepsake book: $19.99   |   Grandparent bundle: $4.99/mo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7B06A1-38EF-B171-0416-49451CD2E4E2}"/>
              </a:ext>
            </a:extLst>
          </p:cNvPr>
          <p:cNvSpPr txBox="1"/>
          <p:nvPr/>
        </p:nvSpPr>
        <p:spPr>
          <a:xfrm>
            <a:off x="3168127" y="282339"/>
            <a:ext cx="4744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(*SAMPLE PRICING*)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Built-In Growth Loops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👨‍👩‍👧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Grandparent Referral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146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Parent shares kid's art → Grandparent gets postcard → Grandparent asks for more → Parent upgrades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School Viral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5146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Kid shows postcard at school → Classmate wants one → Parent signs up → New paying family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89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Creator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463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Monthly themes drive uploads → Leaderboards create friendly competition → Low churn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6052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343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389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Keepsake Upsell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8463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12 months of art → End-of-year book prompt → $19.99 add-on → High-margin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CC8C3"/>
                </a:solidFill>
              </a:rPr>
              <a:t>Organic growth is the strategy. Mail is the catalyst.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Hard to copy.
Harder to leave.</a:t>
            </a:r>
          </a:p>
        </p:txBody>
      </p:sp>
      <p:sp>
        <p:nvSpPr>
          <p:cNvPr id="5" name="Oval 4"/>
          <p:cNvSpPr/>
          <p:nvPr/>
        </p:nvSpPr>
        <p:spPr>
          <a:xfrm>
            <a:off x="521208" y="2596896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968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Emotional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A child's art history lives here. You don't delete the app that holds your kid's masterpieces.</a:t>
            </a:r>
          </a:p>
        </p:txBody>
      </p:sp>
      <p:sp>
        <p:nvSpPr>
          <p:cNvPr id="9" name="Oval 8"/>
          <p:cNvSpPr/>
          <p:nvPr/>
        </p:nvSpPr>
        <p:spPr>
          <a:xfrm>
            <a:off x="521208" y="3401567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36499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0156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Physical + Digital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49039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No tech-only competitor can replicate real mail. No mail company can replicate the community.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" y="4206239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16966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👨‍👩‍👧‍👦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062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Family Network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53711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Each family adds grandparents, aunts, uncles. Every connection deepens retention.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" y="5010912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97433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109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Trust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58384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COPPA-compliant from day one. No DMs, moderated content, parent approval. Trust is the product.</a:t>
            </a:r>
          </a:p>
        </p:txBody>
      </p:sp>
      <p:sp>
        <p:nvSpPr>
          <p:cNvPr id="21" name="Oval 20"/>
          <p:cNvSpPr/>
          <p:nvPr/>
        </p:nvSpPr>
        <p:spPr>
          <a:xfrm>
            <a:off x="521208" y="5815584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7790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8155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Creative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163056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Proprietary dataset of children's creative development = future personalization no one else has.</a:t>
            </a:r>
          </a:p>
        </p:txBody>
      </p:sp>
      <p:sp>
        <p:nvSpPr>
          <p:cNvPr id="25" name="Oval 24"/>
          <p:cNvSpPr/>
          <p:nvPr/>
        </p:nvSpPr>
        <p:spPr>
          <a:xfrm>
            <a:off x="8321040" y="2011680"/>
            <a:ext cx="3291840" cy="3291840"/>
          </a:xfrm>
          <a:prstGeom prst="ellipse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0" y="2468880"/>
            <a:ext cx="2377440" cy="2377440"/>
          </a:xfrm>
          <a:prstGeom prst="ellipse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235440" y="2926080"/>
            <a:ext cx="1463040" cy="1463040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01200" y="32918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64040" y="33832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C2C"/>
                </a:solidFill>
              </a:rPr>
              <a:t>K3C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</a:rPr>
              <a:t>The numbers work.</a:t>
            </a:r>
            <a:r>
              <a:rPr lang="en-US" sz="4000" b="1" i="0" dirty="0">
                <a:solidFill>
                  <a:srgbClr val="FFFFFF"/>
                </a:solidFill>
              </a:rPr>
              <a:t> *</a:t>
            </a:r>
            <a:endParaRPr sz="4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C8C3"/>
                </a:solidFill>
              </a:rPr>
              <a:t>Creator Plan  —  $9/month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Postcard printing + postage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40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$1.80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157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Platform / infra per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157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$0.60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912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AI moderation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912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$0.25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667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Customer support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6674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$0.35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96512"/>
            <a:ext cx="530352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1422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C8C3"/>
                </a:solidFill>
              </a:rPr>
              <a:t>Total COGS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422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4CC8C3"/>
                </a:solidFill>
              </a:rPr>
              <a:t>$3.00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8646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Gross Margin: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006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67%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1828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$38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Avg monthly revenue
per family (blended)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645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1828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18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Target payback period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31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4114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$680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846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LTV estimate
(18-month avg tenure)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931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4114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~$18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846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Blended CAC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CC3B44-5A5E-F504-BF3C-03D676D965F5}"/>
              </a:ext>
            </a:extLst>
          </p:cNvPr>
          <p:cNvSpPr txBox="1"/>
          <p:nvPr/>
        </p:nvSpPr>
        <p:spPr>
          <a:xfrm>
            <a:off x="5454127" y="399871"/>
            <a:ext cx="6379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I ran this through a few AI strategy tools as a sanity check. Feedback was strong, mostly 9/10, with some 10/10. The pricing model shown here was also suggested because it’s simple, emotional, recurring, and has clear upsell path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RISKS +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Known risks. Clear safeguards.</a:t>
            </a:r>
            <a:endParaRPr lang="en-GB" sz="3600" b="1" i="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C5C"/>
                </a:solidFill>
              </a:rPr>
              <a:t>Known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225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Churn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8833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Kids age out — mitigated by family plan / sibling continuity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Mail ops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0273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Partnering with print-on-demand + USPS bulk rate from day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513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COPPA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1713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Children's privacy law built into architecture, not bolted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657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Screen time concerns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31536"/>
            <a:ext cx="4937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3"/>
                </a:solidFill>
              </a:rPr>
              <a:t>Positioned as creative tool</a:t>
            </a:r>
            <a:r>
              <a:rPr lang="en-US" sz="1200" b="0" i="0" dirty="0">
                <a:solidFill>
                  <a:srgbClr val="E8F4F3"/>
                </a:solidFill>
              </a:rPr>
              <a:t>,</a:t>
            </a:r>
            <a:r>
              <a:rPr sz="1200" b="0" i="0" dirty="0">
                <a:solidFill>
                  <a:srgbClr val="E8F4F3"/>
                </a:solidFill>
              </a:rPr>
              <a:t> parents already pay for art 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91640"/>
            <a:ext cx="36576" cy="4572000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Safety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340864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4F3"/>
                </a:solidFill>
              </a:rPr>
              <a:t>No open DMs </a:t>
            </a:r>
            <a:r>
              <a:rPr lang="en-US" sz="1300" dirty="0">
                <a:solidFill>
                  <a:srgbClr val="E8F4F3"/>
                </a:solidFill>
              </a:rPr>
              <a:t>EVER</a:t>
            </a:r>
            <a:endParaRPr sz="1300" b="0" i="0" dirty="0">
              <a:solidFill>
                <a:srgbClr val="E8F4F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29809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035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AI-assisted content moderation + human review 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7588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73075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Private child profiles — not searchable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708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4256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Parent must approve every upload before it's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657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120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COPPA-compliant data handling from day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760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815584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4F3"/>
                </a:solidFill>
              </a:rPr>
              <a:t>AI feedback is encouraging only</a:t>
            </a:r>
            <a:r>
              <a:rPr lang="en-US" sz="1300" b="0" i="0" dirty="0">
                <a:solidFill>
                  <a:srgbClr val="E8F4F3"/>
                </a:solidFill>
              </a:rPr>
              <a:t>,</a:t>
            </a:r>
            <a:r>
              <a:rPr sz="1300" b="0" i="0" dirty="0">
                <a:solidFill>
                  <a:srgbClr val="E8F4F3"/>
                </a:solidFill>
              </a:rPr>
              <a:t> no negative scores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893"/>
            <a:ext cx="12185778" cy="36566"/>
          </a:xfrm>
          <a:prstGeom prst="rect">
            <a:avLst/>
          </a:prstGeom>
          <a:solidFill>
            <a:srgbClr val="4DC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788" y="339133"/>
            <a:ext cx="1828324" cy="1692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100" b="1">
                <a:solidFill>
                  <a:srgbClr val="4DCDC7"/>
                </a:solidFill>
                <a:latin typeface="Calibri"/>
              </a:rPr>
              <a:t>TEST PLAN +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789" y="750506"/>
            <a:ext cx="6307717" cy="6856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4399" b="1" dirty="0">
                <a:solidFill>
                  <a:srgbClr val="FAFAF8"/>
                </a:solidFill>
                <a:latin typeface="Calibri"/>
              </a:rPr>
              <a:t>Launch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788" y="1481835"/>
            <a:ext cx="5210723" cy="3383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2199">
                <a:solidFill>
                  <a:srgbClr val="C4D7D2"/>
                </a:solidFill>
                <a:latin typeface="Calibri"/>
              </a:rPr>
              <a:t>Build it. Build the audience. Drop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780" y="2487413"/>
            <a:ext cx="22854" cy="2651069"/>
          </a:xfrm>
          <a:prstGeom prst="rect">
            <a:avLst/>
          </a:prstGeom>
          <a:solidFill>
            <a:srgbClr val="3DB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Oval 6"/>
          <p:cNvSpPr/>
          <p:nvPr/>
        </p:nvSpPr>
        <p:spPr>
          <a:xfrm>
            <a:off x="411372" y="2606254"/>
            <a:ext cx="292532" cy="292532"/>
          </a:xfrm>
          <a:prstGeom prst="ellipse">
            <a:avLst/>
          </a:prstGeom>
          <a:solidFill>
            <a:srgbClr val="FAFAF8"/>
          </a:solidFill>
          <a:ln w="25400">
            <a:solidFill>
              <a:srgbClr val="3DB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1372" y="3730673"/>
            <a:ext cx="292532" cy="292532"/>
          </a:xfrm>
          <a:prstGeom prst="ellipse">
            <a:avLst/>
          </a:prstGeom>
          <a:solidFill>
            <a:srgbClr val="FAFAF8"/>
          </a:solidFill>
          <a:ln w="25400">
            <a:solidFill>
              <a:srgbClr val="3DB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411372" y="4873376"/>
            <a:ext cx="292532" cy="292532"/>
          </a:xfrm>
          <a:prstGeom prst="ellipse">
            <a:avLst/>
          </a:prstGeom>
          <a:solidFill>
            <a:srgbClr val="FAFAF8"/>
          </a:solidFill>
          <a:ln w="25400">
            <a:solidFill>
              <a:srgbClr val="3DB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162" y="2085181"/>
            <a:ext cx="6536257" cy="959870"/>
          </a:xfrm>
          <a:prstGeom prst="roundRect">
            <a:avLst/>
          </a:prstGeom>
          <a:solidFill>
            <a:srgbClr val="084440"/>
          </a:solidFill>
          <a:ln w="15240">
            <a:solidFill>
              <a:srgbClr val="146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161" y="2085181"/>
            <a:ext cx="1325535" cy="959870"/>
          </a:xfrm>
          <a:prstGeom prst="roundRect">
            <a:avLst/>
          </a:prstGeom>
          <a:solidFill>
            <a:srgbClr val="29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8710" y="2268014"/>
            <a:ext cx="987295" cy="60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600" b="1">
                <a:solidFill>
                  <a:srgbClr val="FAFAF8"/>
                </a:solidFill>
                <a:latin typeface="Calibri"/>
              </a:rPr>
              <a:t>Phase 1</a:t>
            </a:r>
          </a:p>
          <a:p>
            <a:pPr algn="ctr" defTabSz="457063">
              <a:spcBef>
                <a:spcPts val="600"/>
              </a:spcBef>
            </a:pPr>
            <a:r>
              <a:rPr sz="1200">
                <a:solidFill>
                  <a:srgbClr val="C4D7D2"/>
                </a:solidFill>
                <a:latin typeface="Calibri"/>
              </a:rPr>
              <a:t>Days 1–30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1370" y="2268015"/>
            <a:ext cx="4479393" cy="27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799" b="1">
                <a:solidFill>
                  <a:srgbClr val="4DCDC7"/>
                </a:solidFill>
                <a:latin typeface="Calibri"/>
              </a:rPr>
              <a:t>Build the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1370" y="2606253"/>
            <a:ext cx="4525101" cy="21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400">
                <a:solidFill>
                  <a:srgbClr val="FAFAF8"/>
                </a:solidFill>
                <a:latin typeface="Calibri"/>
              </a:rPr>
              <a:t>Create the website, app, and core platform.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162" y="3291876"/>
            <a:ext cx="6536257" cy="959870"/>
          </a:xfrm>
          <a:prstGeom prst="roundRect">
            <a:avLst/>
          </a:prstGeom>
          <a:solidFill>
            <a:srgbClr val="084440"/>
          </a:solidFill>
          <a:ln w="15240">
            <a:solidFill>
              <a:srgbClr val="146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161" y="3291876"/>
            <a:ext cx="1325535" cy="959870"/>
          </a:xfrm>
          <a:prstGeom prst="roundRect">
            <a:avLst/>
          </a:prstGeom>
          <a:solidFill>
            <a:srgbClr val="29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8710" y="3474708"/>
            <a:ext cx="987295" cy="60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600" b="1">
                <a:solidFill>
                  <a:srgbClr val="FAFAF8"/>
                </a:solidFill>
                <a:latin typeface="Calibri"/>
              </a:rPr>
              <a:t>Phase 2</a:t>
            </a:r>
          </a:p>
          <a:p>
            <a:pPr algn="ctr" defTabSz="457063">
              <a:spcBef>
                <a:spcPts val="600"/>
              </a:spcBef>
            </a:pPr>
            <a:r>
              <a:rPr sz="1200">
                <a:solidFill>
                  <a:srgbClr val="C4D7D2"/>
                </a:solidFill>
                <a:latin typeface="Calibri"/>
              </a:rPr>
              <a:t>Days 31–60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370" y="3474709"/>
            <a:ext cx="4479393" cy="27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799" b="1">
                <a:solidFill>
                  <a:srgbClr val="4DCDC7"/>
                </a:solidFill>
                <a:latin typeface="Calibri"/>
              </a:rPr>
              <a:t>Build the 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1370" y="3812948"/>
            <a:ext cx="4525101" cy="646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400">
                <a:solidFill>
                  <a:srgbClr val="FAFAF8"/>
                </a:solidFill>
                <a:latin typeface="Calibri"/>
              </a:rPr>
              <a:t>Launch parent groups on Facebook, TikTok, and Instagram. Hire a small social team to create content, make videos, and run 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162" y="4507711"/>
            <a:ext cx="6536257" cy="959870"/>
          </a:xfrm>
          <a:prstGeom prst="roundRect">
            <a:avLst/>
          </a:prstGeom>
          <a:solidFill>
            <a:srgbClr val="084440"/>
          </a:solidFill>
          <a:ln w="15240">
            <a:solidFill>
              <a:srgbClr val="146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161" y="4507711"/>
            <a:ext cx="1325535" cy="959870"/>
          </a:xfrm>
          <a:prstGeom prst="roundRect">
            <a:avLst/>
          </a:prstGeom>
          <a:solidFill>
            <a:srgbClr val="29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8710" y="4690543"/>
            <a:ext cx="987295" cy="60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063"/>
            <a:r>
              <a:rPr sz="1600" b="1">
                <a:solidFill>
                  <a:srgbClr val="FAFAF8"/>
                </a:solidFill>
                <a:latin typeface="Calibri"/>
              </a:rPr>
              <a:t>Phase 3</a:t>
            </a:r>
          </a:p>
          <a:p>
            <a:pPr algn="ctr" defTabSz="457063">
              <a:spcBef>
                <a:spcPts val="600"/>
              </a:spcBef>
            </a:pPr>
            <a:r>
              <a:rPr sz="1200">
                <a:solidFill>
                  <a:srgbClr val="C4D7D2"/>
                </a:solidFill>
                <a:latin typeface="Calibri"/>
              </a:rPr>
              <a:t>Days 61–90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1370" y="4690544"/>
            <a:ext cx="4479393" cy="27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799" b="1">
                <a:solidFill>
                  <a:srgbClr val="4DCDC7"/>
                </a:solidFill>
                <a:latin typeface="Calibri"/>
              </a:rPr>
              <a:t>Drop &amp; 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1370" y="5028784"/>
            <a:ext cx="4525101" cy="430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400">
                <a:solidFill>
                  <a:srgbClr val="FAFAF8"/>
                </a:solidFill>
                <a:latin typeface="Calibri"/>
              </a:rPr>
              <a:t>Open subscriptions, promote the launch, and send the first mail drop.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789" y="5650414"/>
            <a:ext cx="6947630" cy="685621"/>
          </a:xfrm>
          <a:prstGeom prst="roundRect">
            <a:avLst/>
          </a:prstGeom>
          <a:solidFill>
            <a:srgbClr val="4DC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13046" y="5805821"/>
            <a:ext cx="383948" cy="383948"/>
          </a:xfrm>
          <a:prstGeom prst="ellipse">
            <a:avLst/>
          </a:prstGeom>
          <a:solidFill>
            <a:srgbClr val="02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7895" y="5851529"/>
            <a:ext cx="274249" cy="27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063"/>
            <a:r>
              <a:rPr sz="1799">
                <a:solidFill>
                  <a:srgbClr val="FAFAF8"/>
                </a:solidFill>
                <a:latin typeface="Calibri"/>
              </a:rPr>
              <a:t>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6951" y="5842388"/>
            <a:ext cx="1142702" cy="27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799" b="1">
                <a:solidFill>
                  <a:srgbClr val="022526"/>
                </a:solidFill>
                <a:latin typeface="Calibri"/>
              </a:rPr>
              <a:t>The Ask: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9352" y="5778396"/>
            <a:ext cx="457080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600" b="1" dirty="0">
                <a:solidFill>
                  <a:srgbClr val="022526"/>
                </a:solidFill>
                <a:latin typeface="Calibri"/>
              </a:rPr>
              <a:t>Approve MVP build </a:t>
            </a:r>
            <a:r>
              <a:rPr lang="en-US" sz="1600" b="1" dirty="0">
                <a:solidFill>
                  <a:srgbClr val="022526"/>
                </a:solidFill>
                <a:latin typeface="Calibri"/>
              </a:rPr>
              <a:t>as a team and build out idea if everyone is on board</a:t>
            </a:r>
            <a:endParaRPr sz="1600" b="1" dirty="0">
              <a:solidFill>
                <a:srgbClr val="022526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816084" y="384841"/>
            <a:ext cx="4022312" cy="5942052"/>
          </a:xfrm>
          <a:prstGeom prst="roundRect">
            <a:avLst/>
          </a:prstGeom>
          <a:solidFill>
            <a:srgbClr val="083C3A"/>
          </a:solidFill>
          <a:ln w="15240">
            <a:solidFill>
              <a:srgbClr val="11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300589" y="1481835"/>
            <a:ext cx="3062442" cy="3062442"/>
          </a:xfrm>
          <a:prstGeom prst="ellipse">
            <a:avLst/>
          </a:prstGeom>
          <a:solidFill>
            <a:srgbClr val="29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44896" y="2268014"/>
            <a:ext cx="1056103" cy="9227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defTabSz="457063"/>
            <a:r>
              <a:rPr sz="5998">
                <a:solidFill>
                  <a:prstClr val="black"/>
                </a:solidFill>
                <a:latin typeface="Segoe UI Emoji"/>
              </a:rPr>
              <a:t>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2821" y="5558998"/>
            <a:ext cx="228540" cy="2461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600">
                <a:solidFill>
                  <a:srgbClr val="4DCDC7"/>
                </a:solidFill>
                <a:latin typeface="Calibri"/>
              </a:rPr>
              <a:t>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2821" y="5888096"/>
            <a:ext cx="228540" cy="2461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600">
                <a:solidFill>
                  <a:srgbClr val="4DCDC7"/>
                </a:solidFill>
                <a:latin typeface="Calibri"/>
              </a:rPr>
              <a:t>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3636" y="5860671"/>
            <a:ext cx="2559653" cy="2000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063"/>
            <a:r>
              <a:rPr sz="1300" dirty="0">
                <a:solidFill>
                  <a:srgbClr val="C4D7D2"/>
                </a:solidFill>
                <a:latin typeface="Calibri"/>
              </a:rPr>
              <a:t>kidscreativitycofidenceclub.com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C8C3"/>
                </a:solidFill>
              </a:rPr>
              <a:t>THE SOCIAL MEDIA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8AAA8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55M Kids Want Social Media.</a:t>
            </a:r>
          </a:p>
          <a:p>
            <a:pPr algn="l"/>
            <a:r>
              <a:rPr sz="3200" b="1" i="0">
                <a:solidFill>
                  <a:srgbClr val="4CC8C3"/>
                </a:solidFill>
              </a:rPr>
              <a:t>Half Their Parents Say No.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45720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E1DF"/>
                </a:solidFill>
              </a:rPr>
              <a:t>There is no safe platform built for kids. Every major social app is designed for adults — and kids pay the price.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06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154680"/>
            <a:ext cx="5212080" cy="45720"/>
          </a:xfrm>
          <a:prstGeom prst="rect">
            <a:avLst/>
          </a:prstGeom>
          <a:solidFill>
            <a:srgbClr val="F4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C5C"/>
                </a:solidFill>
              </a:rPr>
              <a:t>⚠️  WHY PARENTS SAY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67327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Predators &amp; strangers in DMs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3308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51375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Cyberbullying &amp; comparison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171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3542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Mental health risks, anxiety, FOMO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01183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1947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Age-inappropriate content everywhere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8523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03519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Zero parental visibility or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154680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06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154680"/>
            <a:ext cx="521208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246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C8C3"/>
                </a:solidFill>
              </a:rPr>
              <a:t>✨  WHY KIDS WANT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49039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767327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It's where the culture is — they feel left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13308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151375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Peer belonging &amp; social status matter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5171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53542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They want to share what they create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901183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91947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Connection with friends beyond school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28523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303519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Recognition and visibility for their 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833872"/>
            <a:ext cx="11155680" cy="658368"/>
          </a:xfrm>
          <a:prstGeom prst="roundRect">
            <a:avLst>
              <a:gd name="adj" fmla="val 5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2531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538"/>
                </a:solidFill>
              </a:rPr>
              <a:t>= Both sides are right. The problem is that a safe middle ground has never existed — until now.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C8C3"/>
                </a:solidFill>
              </a:rPr>
              <a:t>THE PARENT DIVIDE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8AAA8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Parents Are Split — And Neither Side Is Wrong.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45720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E1DF"/>
                </a:solidFill>
              </a:rPr>
              <a:t>The social media debate is one of the top parenting conflicts today — with no good solution on either side.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06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25603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CC8C3"/>
                </a:solidFill>
              </a:rP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of parents
BANNED social media
entirely for their child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56032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06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2560320"/>
            <a:ext cx="25603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6974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CC8C3"/>
                </a:solidFill>
              </a:rPr>
              <a:t>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4747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allow it with
some restrictions,
but worry constantly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56032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06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560320"/>
            <a:ext cx="25603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26974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CC8C3"/>
                </a:solidFill>
              </a:rPr>
              <a:t>72%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4747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of kids say they feel
"left out" because they
cannot use social apps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56032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06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560320"/>
            <a:ext cx="256032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6974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CC8C3"/>
                </a:solidFill>
              </a:rPr>
              <a:t>91%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4747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of parents agree
a 100% safe kid-only
platform would earn
their full approval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54864" cy="82296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68756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3"/>
                </a:solidFill>
              </a:rPr>
              <a:t>"I don't want to ban social media forever. I just want something I can actually trust with my 9-year-old."  — Parent focus group respondent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C8C3"/>
                </a:solidFill>
              </a:rPr>
              <a:t>THE SAFE SOCIAL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8AAA8"/>
                </a:solidFill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If Social Media Was Built
For Kids First?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45720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E1DF"/>
                </a:solidFill>
              </a:rPr>
              <a:t>A 100% kid-safe social layer — built into the Tiny Masterpieces platform — gives kids the status of social media, with zero of the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5212080" cy="3520440"/>
          </a:xfrm>
          <a:prstGeom prst="roundRect">
            <a:avLst>
              <a:gd name="adj" fmla="val 5000"/>
            </a:avLst>
          </a:prstGeom>
          <a:solidFill>
            <a:srgbClr val="06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521208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HOW IT STAYS 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455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Closed community — only verified families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478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No DMs, no open comments, no strangers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6849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86783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Every post parent-approved before publishing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891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07407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AI + human moderation on all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0974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2803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COPPA-compliant from day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303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48655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No follower counts or like-based 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509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79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Art-only feed — creativity, not selfies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606040"/>
            <a:ext cx="5212080" cy="3520440"/>
          </a:xfrm>
          <a:prstGeom prst="roundRect">
            <a:avLst>
              <a:gd name="adj" fmla="val 5000"/>
            </a:avLst>
          </a:prstGeom>
          <a:solidFill>
            <a:srgbClr val="06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606040"/>
            <a:ext cx="5212080" cy="45720"/>
          </a:xfrm>
          <a:prstGeom prst="rect">
            <a:avLst/>
          </a:prstGeom>
          <a:solidFill>
            <a:srgbClr val="F7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D060"/>
                </a:solidFill>
              </a:rPr>
              <a:t>THE STATUS KIDS ACTUALLY 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1272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1455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A real public gallery of their artwork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5478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566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Creator badges and achievement levels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96849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986783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Reactions and encouragement from peers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3891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407407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Monthly challenges to compete and share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80974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82803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Physical mail — the ultimate flex at school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2303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248655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Featured "Artist of the Month" spotlight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6509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669279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"Creator Level" visible to the community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309360"/>
            <a:ext cx="11155680" cy="438912"/>
          </a:xfrm>
          <a:prstGeom prst="roundRect">
            <a:avLst>
              <a:gd name="adj" fmla="val 5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37336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3538"/>
                </a:solidFill>
              </a:rPr>
              <a:t>= Kids get the status. Parents get the safety. No one has to compromise.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C8C3"/>
                </a:solidFill>
              </a:rPr>
              <a:t>THE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8AAA8"/>
                </a:solidFill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Win-Win-Win. For Kids, Parents &amp; Society.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09728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06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6576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C8C3"/>
                </a:solidFill>
              </a:rPr>
              <a:t>🧒  FOR KIDS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Real social status among peers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529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Creative confidence that grows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8269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Encouragement — not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12463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Achievement recognition &amp; badges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4223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Physical mail that makes them feel famous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7199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Monthly challenges keep it exciting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0176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Zero cyberbullying or toxic 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874519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06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874519"/>
            <a:ext cx="3657600" cy="45720"/>
          </a:xfrm>
          <a:prstGeom prst="rect">
            <a:avLst/>
          </a:prstGeom>
          <a:solidFill>
            <a:srgbClr val="F7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D060"/>
                </a:solidFill>
              </a:rPr>
              <a:t>👨‍👩‍👧  FOR PARENTS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4231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Full control — approve every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8529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Peace of mind — no strangers, no DMs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28269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No addictive engagement mechanics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12463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COPPA-compliant, privacy-first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14223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Builds creativity instead of screen addiction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57199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Visibility into every interaction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0176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Easy guilt-free "yes" to social media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874519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06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874519"/>
            <a:ext cx="3657600" cy="45720"/>
          </a:xfrm>
          <a:prstGeom prst="rect">
            <a:avLst/>
          </a:prstGeom>
          <a:solidFill>
            <a:srgbClr val="A0E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19659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E1DF"/>
                </a:solidFill>
              </a:rPr>
              <a:t>🌍  FOR SOCIETY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4231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Proof that safe social media is possible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28529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Kids develop creativity, not anxiety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328269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Physical mail reduces digital overload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712463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Family bonds strengthened, not broken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14223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Alternative to algorithm-driven feeds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57199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A generation of confident young creators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500176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✓  Healthy relationship with technology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446520"/>
            <a:ext cx="11155680" cy="347472"/>
          </a:xfrm>
          <a:prstGeom prst="roundRect">
            <a:avLst>
              <a:gd name="adj" fmla="val 5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538"/>
                </a:solidFill>
              </a:rPr>
              <a:t>Kids Creativity Confidence Club is the first social platform where parents approve — and kids actually want to use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1527</Words>
  <Application>Microsoft Office PowerPoint</Application>
  <PresentationFormat>Custom</PresentationFormat>
  <Paragraphs>346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David Long</dc:creator>
  <cp:keywords/>
  <dc:description>generated using python-pptx</dc:description>
  <cp:lastModifiedBy>David Long</cp:lastModifiedBy>
  <cp:revision>3</cp:revision>
  <dcterms:created xsi:type="dcterms:W3CDTF">2013-01-27T09:14:16Z</dcterms:created>
  <dcterms:modified xsi:type="dcterms:W3CDTF">2026-06-09T20:43:36Z</dcterms:modified>
  <cp:category/>
</cp:coreProperties>
</file>